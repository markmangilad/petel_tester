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96" r:id="rId1"/>
  </p:sldMasterIdLst>
  <p:sldIdLst>
    <p:sldId id="256" r:id="rId2"/>
    <p:sldId id="259" r:id="rId3"/>
    <p:sldId id="277" r:id="rId4"/>
    <p:sldId id="260" r:id="rId5"/>
    <p:sldId id="268" r:id="rId6"/>
    <p:sldId id="269" r:id="rId7"/>
    <p:sldId id="275" r:id="rId8"/>
    <p:sldId id="276" r:id="rId9"/>
    <p:sldId id="278" r:id="rId10"/>
    <p:sldId id="279" r:id="rId11"/>
    <p:sldId id="280" r:id="rId12"/>
    <p:sldId id="284" r:id="rId13"/>
    <p:sldId id="281" r:id="rId14"/>
    <p:sldId id="283" r:id="rId15"/>
    <p:sldId id="282" r:id="rId16"/>
    <p:sldId id="285" r:id="rId17"/>
    <p:sldId id="286" r:id="rId18"/>
    <p:sldId id="299" r:id="rId19"/>
    <p:sldId id="287" r:id="rId20"/>
    <p:sldId id="288" r:id="rId21"/>
    <p:sldId id="289" r:id="rId22"/>
    <p:sldId id="290" r:id="rId23"/>
    <p:sldId id="298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301" r:id="rId32"/>
    <p:sldId id="302" r:id="rId33"/>
    <p:sldId id="304" r:id="rId34"/>
    <p:sldId id="303" r:id="rId35"/>
    <p:sldId id="300" r:id="rId36"/>
    <p:sldId id="305" r:id="rId37"/>
    <p:sldId id="306" r:id="rId38"/>
    <p:sldId id="309" r:id="rId39"/>
    <p:sldId id="313" r:id="rId40"/>
    <p:sldId id="307" r:id="rId41"/>
    <p:sldId id="310" r:id="rId42"/>
    <p:sldId id="311" r:id="rId43"/>
    <p:sldId id="312" r:id="rId44"/>
    <p:sldId id="314" r:id="rId45"/>
    <p:sldId id="308" r:id="rId46"/>
    <p:sldId id="316" r:id="rId47"/>
    <p:sldId id="315" r:id="rId4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B05F0D4-6A65-6072-009D-36138163E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053FA2E-3141-308F-D68F-C1CEE4BA4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BB464BD-CDD4-43BE-5826-2C0CC041F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99834-7218-4E2D-A77A-0090718C63ED}" type="datetimeFigureOut">
              <a:rPr lang="he-IL" smtClean="0"/>
              <a:t>כ"א/כסלו/תשפ"ו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C9F7BDF-4D37-B0FA-41C3-84DD7B509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FF8D2CC-ABC0-7F0E-E80D-2F5C40D28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DB8D-430A-4A78-B33B-6BB2712F77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64760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696A4E3-8974-4118-FFD0-81A040672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6F6A398-1237-E3F5-71F0-CD6EEE532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7C5F2FF-CBB1-2A6A-8290-409C3BDF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99834-7218-4E2D-A77A-0090718C63ED}" type="datetimeFigureOut">
              <a:rPr lang="he-IL" smtClean="0"/>
              <a:t>כ"א/כסלו/תשפ"ו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37519DC-8C3C-757F-26EC-2F89AA79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8412E77-430D-E8A0-F1DC-2C7254D7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DB8D-430A-4A78-B33B-6BB2712F77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0310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0C0BDE9-517A-221D-4B41-794BBA3E3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07A03B5-5EB5-68EB-B068-708216B91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6B13F44-D71A-C3CD-A33C-02C81ED3E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99834-7218-4E2D-A77A-0090718C63ED}" type="datetimeFigureOut">
              <a:rPr lang="he-IL" smtClean="0"/>
              <a:t>כ"א/כסלו/תשפ"ו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4D38BAF-00F3-93B3-CB13-88799765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E615FD0-935E-7213-4444-F5634DDE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DB8D-430A-4A78-B33B-6BB2712F77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17199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420B89F-B80A-8347-312D-B29F4160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34BB543-0195-EBF4-7C11-A09DD7A74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ECBF211-C982-84BC-BBD7-00386A4F8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C35AC18-67D1-DB9A-6D91-76516BB48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99834-7218-4E2D-A77A-0090718C63ED}" type="datetimeFigureOut">
              <a:rPr lang="he-IL" smtClean="0"/>
              <a:t>כ"א/כסלו/תשפ"ו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1E88B0E-3ABE-B24B-9B10-16F5AE4A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8192428-A074-0D17-7832-C54AF3651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DB8D-430A-4A78-B33B-6BB2712F77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1606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CDD29D0-7CBF-7218-864D-13BC067C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AC6EF5E-D77A-ED62-C791-52453A231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40EC6E0-3760-2D71-6B42-E146326A85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EBF05ED-F261-5ABA-A1FB-959BA5B3C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6CB2F41-98A1-7442-2AA2-CA895EAE4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7AACB669-24E4-977B-DCC2-9E56C135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99834-7218-4E2D-A77A-0090718C63ED}" type="datetimeFigureOut">
              <a:rPr lang="he-IL" smtClean="0"/>
              <a:t>כ"א/כסלו/תשפ"ו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C9DCE0C-7867-8E81-774B-DCA9ABFE6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ED59D8D0-A7DD-73A7-32D5-6368174CD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DB8D-430A-4A78-B33B-6BB2712F77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06597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C97BDC-6311-F1C9-044C-DE58FC5B6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0A9CFE1-EE29-4D63-0B98-E46B38BBD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99834-7218-4E2D-A77A-0090718C63ED}" type="datetimeFigureOut">
              <a:rPr lang="he-IL" smtClean="0"/>
              <a:t>כ"א/כסלו/תשפ"ו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88AE340-E1D7-C9EA-5871-29550EC4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AB11C8C-0C33-09B7-BD32-312F6A4BD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DB8D-430A-4A78-B33B-6BB2712F77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048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8035D16-F1D0-DE50-C128-653DA2E99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99834-7218-4E2D-A77A-0090718C63E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6924D3F-1411-5069-90A5-5190D10E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6FF513D4-6924-B4CA-4A91-5A996E60B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DB8D-430A-4A78-B33B-6BB2712F77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522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CE98934-51CA-D1C9-BF1D-BAF821F8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FC055A6-4F69-01F0-65CB-C3072707D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D4DAC65-31B0-92BE-D454-934006860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8C452CE-624D-A172-73F6-DFD7557C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99834-7218-4E2D-A77A-0090718C63ED}" type="datetimeFigureOut">
              <a:rPr lang="he-IL" smtClean="0"/>
              <a:t>כ"א/כסלו/תשפ"ו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10578D4-2259-6FCF-705F-8C9A49DD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E40675B-7FC4-C591-9B4C-5CE779E9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DB8D-430A-4A78-B33B-6BB2712F77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6201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72C7816-8D93-0A6B-C7E8-E7ECFEB4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8163C051-0D84-36A5-75DF-5C137DBC4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ED5D13F-8B54-17E5-2C71-93416C851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284086B-5F43-FDF1-7E56-1694063D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99834-7218-4E2D-A77A-0090718C63ED}" type="datetimeFigureOut">
              <a:rPr lang="he-IL" smtClean="0"/>
              <a:t>כ"א/כסלו/תשפ"ו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68E8655-1E73-D5C1-4162-F7B45290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089413E-E9EC-7C4C-1629-2C707BA2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DB8D-430A-4A78-B33B-6BB2712F77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489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A4B2DE6-7764-F47D-9E2A-003BE1DF4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AC0D6EB-D168-798E-9BFD-5C0311E04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D7255E1-BAC6-3AA3-1364-1C62C48C8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99834-7218-4E2D-A77A-0090718C63ED}" type="datetimeFigureOut">
              <a:rPr lang="he-IL" smtClean="0"/>
              <a:t>כ"א/כסלו/תשפ"ו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44C22C2-7E63-099B-3B33-1DD62EE2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E10BFC7-58EF-B579-3D37-5B459D29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DB8D-430A-4A78-B33B-6BB2712F77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017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B0B00612-06A3-0421-06A8-1BF61C3C4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A75885C-CE52-A3C9-AF44-0E35AE116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A699308-6855-DC79-9071-8244656C8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99834-7218-4E2D-A77A-0090718C63ED}" type="datetimeFigureOut">
              <a:rPr lang="he-IL" smtClean="0"/>
              <a:t>כ"א/כסלו/תשפ"ו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D12353D-823F-E344-D970-2D4661BBC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28A3B0A-2AA1-F2D3-924C-5DAA5816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DB8D-430A-4A78-B33B-6BB2712F77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8093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900261AE-3C6E-71FB-8E03-70EB0FB42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28E37EA-F744-0C62-410C-A6A64E3A7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7D2D68A-1262-83A3-9376-3E69D1EA0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99834-7218-4E2D-A77A-0090718C63ED}" type="datetimeFigureOut">
              <a:rPr lang="he-IL" smtClean="0"/>
              <a:t>כ"ב/כסלו/תשפ"ו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9FBFB46-0937-A88E-1149-1C0A9DE712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6F1F158-0659-E091-D94A-6EEC8A173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DDB8D-430A-4A78-B33B-6BB2712F77F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139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visualstudio.microsoft.com/downloa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MarkmanGilad/PETEL_Teste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MarkmanGilad/PETEL_Test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MarkmanGilad/PETEL_Test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B33DC6A-1F1C-4A06-834E-CFF88F1C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Freeform: Shape 1032">
            <a:extLst>
              <a:ext uri="{FF2B5EF4-FFF2-40B4-BE49-F238E27FC236}">
                <a16:creationId xmlns:a16="http://schemas.microsoft.com/office/drawing/2014/main" id="{0FE1D5CF-87B8-4A8A-AD3C-01D06A607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08641" cy="6858000"/>
          </a:xfrm>
          <a:custGeom>
            <a:avLst/>
            <a:gdLst>
              <a:gd name="connsiteX0" fmla="*/ 0 w 6208641"/>
              <a:gd name="connsiteY0" fmla="*/ 0 h 6858000"/>
              <a:gd name="connsiteX1" fmla="*/ 5464181 w 6208641"/>
              <a:gd name="connsiteY1" fmla="*/ 0 h 6858000"/>
              <a:gd name="connsiteX2" fmla="*/ 5538086 w 6208641"/>
              <a:gd name="connsiteY2" fmla="*/ 159684 h 6858000"/>
              <a:gd name="connsiteX3" fmla="*/ 6208641 w 6208641"/>
              <a:gd name="connsiteY3" fmla="*/ 3706589 h 6858000"/>
              <a:gd name="connsiteX4" fmla="*/ 5734754 w 6208641"/>
              <a:gd name="connsiteY4" fmla="*/ 6730443 h 6858000"/>
              <a:gd name="connsiteX5" fmla="*/ 5689361 w 6208641"/>
              <a:gd name="connsiteY5" fmla="*/ 6858000 h 6858000"/>
              <a:gd name="connsiteX6" fmla="*/ 0 w 620864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8641" h="6858000">
                <a:moveTo>
                  <a:pt x="0" y="0"/>
                </a:moveTo>
                <a:lnTo>
                  <a:pt x="5464181" y="0"/>
                </a:lnTo>
                <a:lnTo>
                  <a:pt x="5538086" y="159684"/>
                </a:lnTo>
                <a:cubicBezTo>
                  <a:pt x="5961440" y="1172168"/>
                  <a:pt x="6208641" y="2392735"/>
                  <a:pt x="6208641" y="3706589"/>
                </a:cubicBezTo>
                <a:cubicBezTo>
                  <a:pt x="6208641" y="4801467"/>
                  <a:pt x="6036974" y="5831563"/>
                  <a:pt x="5734754" y="6730443"/>
                </a:cubicBezTo>
                <a:lnTo>
                  <a:pt x="568936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5" name="Freeform: Shape 1034">
            <a:extLst>
              <a:ext uri="{FF2B5EF4-FFF2-40B4-BE49-F238E27FC236}">
                <a16:creationId xmlns:a16="http://schemas.microsoft.com/office/drawing/2014/main" id="{60926200-45C2-41E9-839F-31CD5FE4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03325" cy="6858000"/>
          </a:xfrm>
          <a:custGeom>
            <a:avLst/>
            <a:gdLst>
              <a:gd name="connsiteX0" fmla="*/ 0 w 6203325"/>
              <a:gd name="connsiteY0" fmla="*/ 0 h 6858000"/>
              <a:gd name="connsiteX1" fmla="*/ 5458865 w 6203325"/>
              <a:gd name="connsiteY1" fmla="*/ 0 h 6858000"/>
              <a:gd name="connsiteX2" fmla="*/ 5532770 w 6203325"/>
              <a:gd name="connsiteY2" fmla="*/ 159684 h 6858000"/>
              <a:gd name="connsiteX3" fmla="*/ 6203325 w 6203325"/>
              <a:gd name="connsiteY3" fmla="*/ 3706589 h 6858000"/>
              <a:gd name="connsiteX4" fmla="*/ 5729438 w 6203325"/>
              <a:gd name="connsiteY4" fmla="*/ 6730443 h 6858000"/>
              <a:gd name="connsiteX5" fmla="*/ 5684045 w 6203325"/>
              <a:gd name="connsiteY5" fmla="*/ 6858000 h 6858000"/>
              <a:gd name="connsiteX6" fmla="*/ 0 w 62033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3325" h="6858000">
                <a:moveTo>
                  <a:pt x="0" y="0"/>
                </a:moveTo>
                <a:lnTo>
                  <a:pt x="5458865" y="0"/>
                </a:lnTo>
                <a:lnTo>
                  <a:pt x="5532770" y="159684"/>
                </a:lnTo>
                <a:cubicBezTo>
                  <a:pt x="5956124" y="1172168"/>
                  <a:pt x="6203325" y="2392735"/>
                  <a:pt x="6203325" y="3706589"/>
                </a:cubicBezTo>
                <a:cubicBezTo>
                  <a:pt x="6203325" y="4801467"/>
                  <a:pt x="6031658" y="5831563"/>
                  <a:pt x="5729438" y="6730443"/>
                </a:cubicBezTo>
                <a:lnTo>
                  <a:pt x="568404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FE4CB60-CA3D-60EA-FE39-1B2562017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098" y="1106034"/>
            <a:ext cx="5019074" cy="2434954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>
            <a:normAutofit/>
          </a:bodyPr>
          <a:lstStyle/>
          <a:p>
            <a:r>
              <a:rPr lang="en-US" sz="6600" dirty="0" err="1"/>
              <a:t>PeTel</a:t>
            </a:r>
            <a:r>
              <a:rPr lang="en-US" sz="6600" dirty="0"/>
              <a:t> Tester </a:t>
            </a:r>
            <a:br>
              <a:rPr lang="en-US" sz="6600" dirty="0"/>
            </a:br>
            <a:r>
              <a:rPr lang="en-US" sz="6600" dirty="0"/>
              <a:t>C#</a:t>
            </a:r>
            <a:endParaRPr lang="he-IL" sz="6600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017C5F42-2211-3542-2B73-74E90529D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124" y="4777102"/>
            <a:ext cx="5013698" cy="1303961"/>
          </a:xfrm>
        </p:spPr>
        <p:txBody>
          <a:bodyPr>
            <a:normAutofit/>
          </a:bodyPr>
          <a:lstStyle/>
          <a:p>
            <a:r>
              <a:rPr lang="he-IL" dirty="0"/>
              <a:t>ממשק לבדיקת קוד בסי שארפ</a:t>
            </a:r>
          </a:p>
          <a:p>
            <a:r>
              <a:rPr lang="he-IL" dirty="0"/>
              <a:t>גלעד מרקמן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19E7B2-783E-780A-A8BF-65F4F5E64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94071" y="1437976"/>
            <a:ext cx="4708831" cy="111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546920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4" descr="מכון ויצמן למדע">
            <a:extLst>
              <a:ext uri="{FF2B5EF4-FFF2-40B4-BE49-F238E27FC236}">
                <a16:creationId xmlns:a16="http://schemas.microsoft.com/office/drawing/2014/main" id="{152E0CE0-18C1-6DFC-17AF-776AD0134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94071" y="4392165"/>
            <a:ext cx="4708833" cy="1059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155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6AA002-C26E-FC7B-BAAB-1B9236C4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2733"/>
          </a:xfrm>
        </p:spPr>
        <p:txBody>
          <a:bodyPr>
            <a:normAutofit/>
          </a:bodyPr>
          <a:lstStyle/>
          <a:p>
            <a:pPr algn="ctr"/>
            <a:r>
              <a:rPr lang="he-IL" sz="5400" b="1" dirty="0"/>
              <a:t>כללי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AA0F8D2-FE25-414D-9602-9CF1CBABD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181"/>
            <a:ext cx="10515600" cy="4780782"/>
          </a:xfrm>
        </p:spPr>
        <p:txBody>
          <a:bodyPr/>
          <a:lstStyle/>
          <a:p>
            <a:r>
              <a:rPr lang="he-IL" dirty="0"/>
              <a:t>ממשק בדיקת הקוד כולל שלושה חלקים:</a:t>
            </a:r>
          </a:p>
          <a:p>
            <a:pPr lvl="1"/>
            <a:r>
              <a:rPr lang="en-US" b="1" dirty="0"/>
              <a:t>Case Tester</a:t>
            </a:r>
            <a:r>
              <a:rPr lang="he-IL" b="1" dirty="0"/>
              <a:t> </a:t>
            </a:r>
            <a:r>
              <a:rPr lang="he-IL" dirty="0"/>
              <a:t>– בדיקה של תוצאות הרצת קוד התלמיד לעומת פתרון המורה.</a:t>
            </a:r>
          </a:p>
          <a:p>
            <a:pPr lvl="1"/>
            <a:r>
              <a:rPr lang="en-US" b="1" dirty="0"/>
              <a:t>Code Tester</a:t>
            </a:r>
            <a:r>
              <a:rPr lang="he-IL" dirty="0"/>
              <a:t> – בדיקה של תחביר התשובה של התלמיד (האם יש קריאה רקורסיבית, האם הפונקציה סטטית וכד').</a:t>
            </a:r>
          </a:p>
          <a:p>
            <a:pPr lvl="1"/>
            <a:r>
              <a:rPr lang="en-US" b="1" dirty="0"/>
              <a:t>AI Tester</a:t>
            </a:r>
            <a:r>
              <a:rPr lang="he-IL" dirty="0"/>
              <a:t> – בדיקת הקוד באמצעות מודל בינה מלאכותית (בפיתוח)</a:t>
            </a:r>
          </a:p>
          <a:p>
            <a:r>
              <a:rPr lang="he-IL" dirty="0"/>
              <a:t>פיתוח בדיקת הקוד מתבצע בסביבת העבודה </a:t>
            </a:r>
            <a:r>
              <a:rPr lang="en-US" dirty="0"/>
              <a:t>Visual Studio</a:t>
            </a:r>
            <a:endParaRPr lang="he-IL" dirty="0"/>
          </a:p>
          <a:p>
            <a:pPr lvl="1"/>
            <a:r>
              <a:rPr lang="he-IL" dirty="0"/>
              <a:t>הרצת בדיקות על פתרונות אפשריים של תלמידים.</a:t>
            </a:r>
          </a:p>
          <a:p>
            <a:r>
              <a:rPr lang="he-IL" dirty="0"/>
              <a:t>לאחר סיום הפיתוח העלאה של הקבצים לסביבת פטל.</a:t>
            </a:r>
          </a:p>
        </p:txBody>
      </p:sp>
      <p:pic>
        <p:nvPicPr>
          <p:cNvPr id="4" name="Picture 4" descr="מכון ויצמן למדע">
            <a:extLst>
              <a:ext uri="{FF2B5EF4-FFF2-40B4-BE49-F238E27FC236}">
                <a16:creationId xmlns:a16="http://schemas.microsoft.com/office/drawing/2014/main" id="{2257F2E9-0989-B21F-723E-C311C3162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21" y="570234"/>
            <a:ext cx="3042712" cy="68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2F662CC-8E8D-23E8-2F1C-ED6C73C6F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619" y="5431979"/>
            <a:ext cx="3062951" cy="72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‪Visual Studio Code Vs Visual Studio – Are They The Same? - Techvify‬‏">
            <a:extLst>
              <a:ext uri="{FF2B5EF4-FFF2-40B4-BE49-F238E27FC236}">
                <a16:creationId xmlns:a16="http://schemas.microsoft.com/office/drawing/2014/main" id="{4FA68AC6-A649-3984-7540-33EC25F65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332" y="3429000"/>
            <a:ext cx="771345" cy="57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108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FA9A4-6C8D-BE24-3B79-D14464FBE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3">
            <a:extLst>
              <a:ext uri="{FF2B5EF4-FFF2-40B4-BE49-F238E27FC236}">
                <a16:creationId xmlns:a16="http://schemas.microsoft.com/office/drawing/2014/main" id="{D3F016F6-5E0B-D9C7-7561-D47D8E354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9501"/>
            <a:ext cx="9144000" cy="1119392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he-IL" sz="7200" b="1" dirty="0"/>
              <a:t>התקנות</a:t>
            </a:r>
          </a:p>
        </p:txBody>
      </p:sp>
      <p:pic>
        <p:nvPicPr>
          <p:cNvPr id="6" name="Picture 2" descr="‪Visual Studio Code Vs Visual Studio – Are They The Same? - Techvify‬‏">
            <a:extLst>
              <a:ext uri="{FF2B5EF4-FFF2-40B4-BE49-F238E27FC236}">
                <a16:creationId xmlns:a16="http://schemas.microsoft.com/office/drawing/2014/main" id="{F32DD65E-7F33-8DC0-B855-4C34C69BF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9579" y="3802883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‪What is GitHub.. GitHub is a platform for online… | by Sameer Hussain |  Medium‬‏">
            <a:extLst>
              <a:ext uri="{FF2B5EF4-FFF2-40B4-BE49-F238E27FC236}">
                <a16:creationId xmlns:a16="http://schemas.microsoft.com/office/drawing/2014/main" id="{4BA0464E-DF3E-EC71-4CA8-28A8A7D1B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275" y="4079108"/>
            <a:ext cx="3514725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0389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5AEAA-2E69-26AC-5140-FE43ADDDF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D4BC1C-DF9B-C9DC-3CA6-77DF01687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698"/>
          </a:xfrm>
        </p:spPr>
        <p:txBody>
          <a:bodyPr/>
          <a:lstStyle/>
          <a:p>
            <a:pPr algn="ctr"/>
            <a:r>
              <a:rPr lang="he-IL" dirty="0"/>
              <a:t>הכנה של </a:t>
            </a:r>
            <a:r>
              <a:rPr lang="he-IL" dirty="0" err="1"/>
              <a:t>ויזואל</a:t>
            </a:r>
            <a:r>
              <a:rPr lang="he-IL" dirty="0"/>
              <a:t> סטודיו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DF24643-5A9B-268D-CECC-2DE9F7BC5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3952" y="1376516"/>
            <a:ext cx="5959848" cy="4800447"/>
          </a:xfrm>
        </p:spPr>
        <p:txBody>
          <a:bodyPr>
            <a:normAutofit/>
          </a:bodyPr>
          <a:lstStyle/>
          <a:p>
            <a:r>
              <a:rPr lang="he-IL" dirty="0"/>
              <a:t>סביבת הפיתוח שלנו היא </a:t>
            </a:r>
            <a:r>
              <a:rPr lang="en-US" dirty="0"/>
              <a:t>Visual Studio</a:t>
            </a:r>
            <a:r>
              <a:rPr lang="he-IL" dirty="0"/>
              <a:t>. התקנה חינמית: </a:t>
            </a:r>
            <a:r>
              <a:rPr lang="en-US" dirty="0">
                <a:hlinkClick r:id="rId2"/>
              </a:rPr>
              <a:t>Visual Studio Community</a:t>
            </a:r>
            <a:endParaRPr lang="he-IL" dirty="0"/>
          </a:p>
          <a:p>
            <a:r>
              <a:rPr lang="he-IL" dirty="0"/>
              <a:t>על מנת לוודא כי הרכיבים הנדרשים מותקנים יש להריץ את </a:t>
            </a:r>
            <a:r>
              <a:rPr lang="en-US" dirty="0"/>
              <a:t>Visual Studio Installer</a:t>
            </a:r>
            <a:r>
              <a:rPr lang="he-IL" dirty="0"/>
              <a:t> -&gt; ללחוץ על </a:t>
            </a:r>
            <a:r>
              <a:rPr lang="en-US" dirty="0"/>
              <a:t>Modify</a:t>
            </a:r>
            <a:r>
              <a:rPr lang="he-IL" dirty="0"/>
              <a:t>.</a:t>
            </a:r>
          </a:p>
          <a:p>
            <a:pPr lvl="1"/>
            <a:r>
              <a:rPr lang="he-IL" dirty="0"/>
              <a:t>לוודא ש </a:t>
            </a:r>
            <a:r>
              <a:rPr lang="en-US" dirty="0" err="1"/>
              <a:t>.Net</a:t>
            </a:r>
            <a:r>
              <a:rPr lang="en-US" dirty="0"/>
              <a:t> desktop development</a:t>
            </a:r>
            <a:r>
              <a:rPr lang="he-IL" dirty="0"/>
              <a:t> מותקן.</a:t>
            </a:r>
          </a:p>
          <a:p>
            <a:pPr lvl="1"/>
            <a:r>
              <a:rPr lang="he-IL" dirty="0"/>
              <a:t>לוודא שכולל את </a:t>
            </a:r>
            <a:r>
              <a:rPr lang="en-US" dirty="0" err="1"/>
              <a:t>.Net</a:t>
            </a:r>
            <a:r>
              <a:rPr lang="en-US" dirty="0"/>
              <a:t> Framework 4.7.2</a:t>
            </a:r>
            <a:endParaRPr lang="he-IL" dirty="0"/>
          </a:p>
          <a:p>
            <a:r>
              <a:rPr lang="he-IL" dirty="0"/>
              <a:t>אם חסר – להתקין.</a:t>
            </a:r>
          </a:p>
        </p:txBody>
      </p:sp>
      <p:pic>
        <p:nvPicPr>
          <p:cNvPr id="5" name="תמונה 4" descr="תמונה שמכילה טקסט, צילום מסך, תוכנה, דף אינטרנ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ABA319A-D6CD-D636-F640-A7B88E07F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36" y="1131823"/>
            <a:ext cx="4182576" cy="2343081"/>
          </a:xfrm>
          <a:prstGeom prst="rect">
            <a:avLst/>
          </a:prstGeom>
        </p:spPr>
      </p:pic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A3CE9FE4-A1B8-37B8-153C-C789918E9839}"/>
              </a:ext>
            </a:extLst>
          </p:cNvPr>
          <p:cNvGrpSpPr/>
          <p:nvPr/>
        </p:nvGrpSpPr>
        <p:grpSpPr>
          <a:xfrm>
            <a:off x="406636" y="3543730"/>
            <a:ext cx="4987316" cy="3069577"/>
            <a:chOff x="705561" y="3788423"/>
            <a:chExt cx="4264696" cy="2578803"/>
          </a:xfrm>
        </p:grpSpPr>
        <p:pic>
          <p:nvPicPr>
            <p:cNvPr id="7" name="תמונה 6" descr="תמונה שמכילה טקסט, צילום מסך, תוכנה, מספר&#10;&#10;תוכן בינה מלאכותית גנרטיבית עשוי להיות שגוי.">
              <a:extLst>
                <a:ext uri="{FF2B5EF4-FFF2-40B4-BE49-F238E27FC236}">
                  <a16:creationId xmlns:a16="http://schemas.microsoft.com/office/drawing/2014/main" id="{68CA3910-BD4D-F3F0-F959-33CD5DC9A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561" y="3788423"/>
              <a:ext cx="4264696" cy="2578803"/>
            </a:xfrm>
            <a:prstGeom prst="rect">
              <a:avLst/>
            </a:prstGeom>
          </p:spPr>
        </p:pic>
        <p:sp>
          <p:nvSpPr>
            <p:cNvPr id="8" name="מלבן: פינות מעוגלות 7">
              <a:extLst>
                <a:ext uri="{FF2B5EF4-FFF2-40B4-BE49-F238E27FC236}">
                  <a16:creationId xmlns:a16="http://schemas.microsoft.com/office/drawing/2014/main" id="{157FF755-8A5C-4AD4-C0B4-2F0EF5279E72}"/>
                </a:ext>
              </a:extLst>
            </p:cNvPr>
            <p:cNvSpPr/>
            <p:nvPr/>
          </p:nvSpPr>
          <p:spPr>
            <a:xfrm>
              <a:off x="3795252" y="4198374"/>
              <a:ext cx="1175005" cy="51127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מלבן: פינות מעוגלות 8">
              <a:extLst>
                <a:ext uri="{FF2B5EF4-FFF2-40B4-BE49-F238E27FC236}">
                  <a16:creationId xmlns:a16="http://schemas.microsoft.com/office/drawing/2014/main" id="{202D1D15-E9F8-D9B1-9074-CB3C2F8AFBBE}"/>
                </a:ext>
              </a:extLst>
            </p:cNvPr>
            <p:cNvSpPr/>
            <p:nvPr/>
          </p:nvSpPr>
          <p:spPr>
            <a:xfrm>
              <a:off x="2094271" y="4827639"/>
              <a:ext cx="1425677" cy="403124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12" name="אליפסה 11">
            <a:extLst>
              <a:ext uri="{FF2B5EF4-FFF2-40B4-BE49-F238E27FC236}">
                <a16:creationId xmlns:a16="http://schemas.microsoft.com/office/drawing/2014/main" id="{537D0AEE-C64E-6E52-EFCC-069F2C126DD4}"/>
              </a:ext>
            </a:extLst>
          </p:cNvPr>
          <p:cNvSpPr/>
          <p:nvPr/>
        </p:nvSpPr>
        <p:spPr>
          <a:xfrm>
            <a:off x="2635045" y="1750142"/>
            <a:ext cx="639097" cy="2458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4" name="מחבר חץ ישר 13">
            <a:extLst>
              <a:ext uri="{FF2B5EF4-FFF2-40B4-BE49-F238E27FC236}">
                <a16:creationId xmlns:a16="http://schemas.microsoft.com/office/drawing/2014/main" id="{2C0DE83D-FD84-460B-F076-B99264F69A15}"/>
              </a:ext>
            </a:extLst>
          </p:cNvPr>
          <p:cNvCxnSpPr>
            <a:cxnSpLocks/>
          </p:cNvCxnSpPr>
          <p:nvPr/>
        </p:nvCxnSpPr>
        <p:spPr>
          <a:xfrm>
            <a:off x="3274142" y="1995948"/>
            <a:ext cx="2467897" cy="19664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אליפסה 14">
            <a:extLst>
              <a:ext uri="{FF2B5EF4-FFF2-40B4-BE49-F238E27FC236}">
                <a16:creationId xmlns:a16="http://schemas.microsoft.com/office/drawing/2014/main" id="{05BCE646-3C2E-E56C-CF77-DC8A5138F59D}"/>
              </a:ext>
            </a:extLst>
          </p:cNvPr>
          <p:cNvSpPr/>
          <p:nvPr/>
        </p:nvSpPr>
        <p:spPr>
          <a:xfrm>
            <a:off x="4395019" y="6420465"/>
            <a:ext cx="668594" cy="19284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09E168A7-EA94-3AF0-3551-7625907CF9B5}"/>
              </a:ext>
            </a:extLst>
          </p:cNvPr>
          <p:cNvCxnSpPr>
            <a:cxnSpLocks/>
          </p:cNvCxnSpPr>
          <p:nvPr/>
        </p:nvCxnSpPr>
        <p:spPr>
          <a:xfrm flipV="1">
            <a:off x="5063613" y="5642696"/>
            <a:ext cx="1494503" cy="7777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156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09259-F4F2-5644-347C-E789A2F2F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FB5CBB7-53E0-0A49-5F8C-36E4F4E90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3404"/>
          </a:xfrm>
        </p:spPr>
        <p:txBody>
          <a:bodyPr/>
          <a:lstStyle/>
          <a:p>
            <a:pPr algn="ctr"/>
            <a:r>
              <a:rPr lang="he-IL" dirty="0"/>
              <a:t>התקנה של הממשק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EF135BE-8D0A-A062-E052-A017E7DAE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013"/>
            <a:ext cx="10515600" cy="4770950"/>
          </a:xfrm>
        </p:spPr>
        <p:txBody>
          <a:bodyPr/>
          <a:lstStyle/>
          <a:p>
            <a:r>
              <a:rPr lang="he-IL" dirty="0"/>
              <a:t>הממשק נמצא </a:t>
            </a:r>
            <a:r>
              <a:rPr lang="en-US" dirty="0"/>
              <a:t>GitHub</a:t>
            </a:r>
            <a:r>
              <a:rPr lang="he-IL" dirty="0"/>
              <a:t> פומבי לפי הכתובת הבאה:  </a:t>
            </a:r>
            <a:r>
              <a:rPr lang="en-US" dirty="0">
                <a:hlinkClick r:id="rId2"/>
              </a:rPr>
              <a:t>https://github.com/MarkmanGilad/PETEL_Tester</a:t>
            </a:r>
            <a:r>
              <a:rPr lang="he-IL" dirty="0"/>
              <a:t>.</a:t>
            </a:r>
          </a:p>
          <a:p>
            <a:r>
              <a:rPr lang="he-IL" dirty="0"/>
              <a:t>ניתן להוריד את הממשק בשתי דרכים חלופיות:</a:t>
            </a:r>
          </a:p>
          <a:p>
            <a:pPr lvl="1"/>
            <a:r>
              <a:rPr lang="he-IL" dirty="0"/>
              <a:t>לבצע </a:t>
            </a:r>
            <a:r>
              <a:rPr lang="en-US" dirty="0"/>
              <a:t>cloning</a:t>
            </a:r>
            <a:r>
              <a:rPr lang="he-IL" dirty="0"/>
              <a:t> לפי הכתובת לעיל (נדרשת התקנה של </a:t>
            </a:r>
            <a:r>
              <a:rPr lang="en-US" dirty="0"/>
              <a:t>Git</a:t>
            </a:r>
            <a:r>
              <a:rPr lang="he-IL" dirty="0"/>
              <a:t> במחשב).</a:t>
            </a:r>
          </a:p>
          <a:p>
            <a:pPr lvl="1"/>
            <a:r>
              <a:rPr lang="he-IL" dirty="0"/>
              <a:t>הורדת הפרויקט כקובץ </a:t>
            </a:r>
            <a:r>
              <a:rPr lang="en-US" dirty="0"/>
              <a:t>zip</a:t>
            </a:r>
            <a:r>
              <a:rPr lang="he-IL" dirty="0"/>
              <a:t>, שמירת הקובץ על המחשב האישי, פתיחת הקובץ, והרצתו.</a:t>
            </a:r>
          </a:p>
          <a:p>
            <a:pPr lvl="1"/>
            <a:endParaRPr lang="he-IL" dirty="0"/>
          </a:p>
          <a:p>
            <a:r>
              <a:rPr lang="he-IL" dirty="0"/>
              <a:t>נדגים את שתי האפשרויות.</a:t>
            </a:r>
          </a:p>
          <a:p>
            <a:pPr lvl="1"/>
            <a:endParaRPr lang="he-IL" dirty="0"/>
          </a:p>
          <a:p>
            <a:endParaRPr lang="en-US" dirty="0"/>
          </a:p>
          <a:p>
            <a:endParaRPr lang="he-IL" dirty="0"/>
          </a:p>
        </p:txBody>
      </p:sp>
      <p:pic>
        <p:nvPicPr>
          <p:cNvPr id="4" name="Picture 2" descr="‪What is GitHub.. GitHub is a platform for online… | by Sameer Hussain |  Medium‬‏">
            <a:extLst>
              <a:ext uri="{FF2B5EF4-FFF2-40B4-BE49-F238E27FC236}">
                <a16:creationId xmlns:a16="http://schemas.microsoft.com/office/drawing/2014/main" id="{2B766E7F-FF85-0CD9-090F-7D90C1447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444" y="4324964"/>
            <a:ext cx="3514725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56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0887-3865-29D5-E515-7BF69456A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EF70B17-CCD6-1C8D-92E2-5E29B12CC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2"/>
          </a:xfrm>
        </p:spPr>
        <p:txBody>
          <a:bodyPr/>
          <a:lstStyle/>
          <a:p>
            <a:pPr algn="ctr"/>
            <a:r>
              <a:rPr lang="en-US" dirty="0"/>
              <a:t>Cloning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86FE2F-147B-F5D7-FC0F-6F359F2F6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5226" y="1386348"/>
            <a:ext cx="5798574" cy="479061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he-IL" dirty="0"/>
              <a:t>במסך הפתיחה של </a:t>
            </a:r>
            <a:r>
              <a:rPr lang="he-IL" dirty="0" err="1"/>
              <a:t>ויזואל</a:t>
            </a:r>
            <a:r>
              <a:rPr lang="he-IL" dirty="0"/>
              <a:t> סטודיו 2022 יש לבחור </a:t>
            </a:r>
            <a:r>
              <a:rPr lang="en-US" dirty="0"/>
              <a:t>clone a repository</a:t>
            </a:r>
            <a:r>
              <a:rPr lang="he-IL" dirty="0"/>
              <a:t>.</a:t>
            </a:r>
          </a:p>
          <a:p>
            <a:endParaRPr lang="he-IL" dirty="0"/>
          </a:p>
          <a:p>
            <a:r>
              <a:rPr lang="he-IL" dirty="0"/>
              <a:t>בתיבת המיקום יש להכניס את כתובת הפרויקט </a:t>
            </a:r>
            <a:r>
              <a:rPr lang="he-IL" dirty="0" err="1"/>
              <a:t>בגיטהב</a:t>
            </a:r>
            <a:r>
              <a:rPr lang="he-IL" dirty="0"/>
              <a:t>: </a:t>
            </a:r>
            <a:r>
              <a:rPr lang="en-US" sz="1800" dirty="0">
                <a:hlinkClick r:id="rId2"/>
              </a:rPr>
              <a:t>https://github.com/MarkmanGilad/PETEL_Tester</a:t>
            </a:r>
            <a:endParaRPr lang="he-IL" sz="1800" dirty="0"/>
          </a:p>
          <a:p>
            <a:r>
              <a:rPr lang="he-IL" dirty="0"/>
              <a:t>ניתן להשאיר את הנתיב לשמירת הפרויקט במחשב שלנו ללא שינוי או לבחור מיקום אחר.</a:t>
            </a:r>
          </a:p>
          <a:p>
            <a:endParaRPr lang="he-IL" dirty="0"/>
          </a:p>
          <a:p>
            <a:r>
              <a:rPr lang="he-IL" dirty="0"/>
              <a:t>ללחוץ על כפתור </a:t>
            </a:r>
            <a:r>
              <a:rPr lang="en-US" dirty="0"/>
              <a:t>clone</a:t>
            </a:r>
            <a:r>
              <a:rPr lang="he-IL" dirty="0"/>
              <a:t>.</a:t>
            </a:r>
          </a:p>
        </p:txBody>
      </p:sp>
      <p:grpSp>
        <p:nvGrpSpPr>
          <p:cNvPr id="7" name="קבוצה 6">
            <a:extLst>
              <a:ext uri="{FF2B5EF4-FFF2-40B4-BE49-F238E27FC236}">
                <a16:creationId xmlns:a16="http://schemas.microsoft.com/office/drawing/2014/main" id="{8587E46F-31CD-0242-2591-24ACEB5458A1}"/>
              </a:ext>
            </a:extLst>
          </p:cNvPr>
          <p:cNvGrpSpPr/>
          <p:nvPr/>
        </p:nvGrpSpPr>
        <p:grpSpPr>
          <a:xfrm>
            <a:off x="299135" y="827506"/>
            <a:ext cx="4027059" cy="2514598"/>
            <a:chOff x="299135" y="1248698"/>
            <a:chExt cx="5101615" cy="3573981"/>
          </a:xfrm>
        </p:grpSpPr>
        <p:pic>
          <p:nvPicPr>
            <p:cNvPr id="5" name="תמונה 4" descr="תמונה שמכילה טקסט, צילום מסך, תוכנה, דף אינטרנט&#10;&#10;תוכן בינה מלאכותית גנרטיבית עשוי להיות שגוי.">
              <a:extLst>
                <a:ext uri="{FF2B5EF4-FFF2-40B4-BE49-F238E27FC236}">
                  <a16:creationId xmlns:a16="http://schemas.microsoft.com/office/drawing/2014/main" id="{DD1F19CA-7BBB-A424-6CCA-A11ACFE1E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135" y="1248698"/>
              <a:ext cx="5101615" cy="3573981"/>
            </a:xfrm>
            <a:prstGeom prst="rect">
              <a:avLst/>
            </a:prstGeom>
          </p:spPr>
        </p:pic>
        <p:sp>
          <p:nvSpPr>
            <p:cNvPr id="6" name="מלבן: פינות מעוגלות 5">
              <a:extLst>
                <a:ext uri="{FF2B5EF4-FFF2-40B4-BE49-F238E27FC236}">
                  <a16:creationId xmlns:a16="http://schemas.microsoft.com/office/drawing/2014/main" id="{395B1478-AC29-BB68-998B-CB05C0703BBC}"/>
                </a:ext>
              </a:extLst>
            </p:cNvPr>
            <p:cNvSpPr/>
            <p:nvPr/>
          </p:nvSpPr>
          <p:spPr>
            <a:xfrm>
              <a:off x="3028335" y="1897626"/>
              <a:ext cx="2251588" cy="59976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pic>
        <p:nvPicPr>
          <p:cNvPr id="9" name="תמונה 8" descr="תמונה שמכילה טקסט, צילום מסך, תוכנה, תצוג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3B6040F-CA03-BF7E-72A0-87610ECABF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25637" b="52520"/>
          <a:stretch>
            <a:fillRect/>
          </a:stretch>
        </p:blipFill>
        <p:spPr>
          <a:xfrm>
            <a:off x="299135" y="3515896"/>
            <a:ext cx="4912482" cy="2216309"/>
          </a:xfrm>
          <a:prstGeom prst="rect">
            <a:avLst/>
          </a:prstGeom>
        </p:spPr>
      </p:pic>
      <p:cxnSp>
        <p:nvCxnSpPr>
          <p:cNvPr id="11" name="מחבר חץ ישר 10">
            <a:extLst>
              <a:ext uri="{FF2B5EF4-FFF2-40B4-BE49-F238E27FC236}">
                <a16:creationId xmlns:a16="http://schemas.microsoft.com/office/drawing/2014/main" id="{7E1F4766-125D-6968-B301-081D07909969}"/>
              </a:ext>
            </a:extLst>
          </p:cNvPr>
          <p:cNvCxnSpPr>
            <a:cxnSpLocks/>
          </p:cNvCxnSpPr>
          <p:nvPr/>
        </p:nvCxnSpPr>
        <p:spPr>
          <a:xfrm flipV="1">
            <a:off x="2880852" y="3547141"/>
            <a:ext cx="3215148" cy="11920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חץ ישר 12">
            <a:extLst>
              <a:ext uri="{FF2B5EF4-FFF2-40B4-BE49-F238E27FC236}">
                <a16:creationId xmlns:a16="http://schemas.microsoft.com/office/drawing/2014/main" id="{09DB0F43-2581-8E3A-4794-06EF3715806F}"/>
              </a:ext>
            </a:extLst>
          </p:cNvPr>
          <p:cNvCxnSpPr>
            <a:cxnSpLocks/>
          </p:cNvCxnSpPr>
          <p:nvPr/>
        </p:nvCxnSpPr>
        <p:spPr>
          <a:xfrm flipV="1">
            <a:off x="2713703" y="4454013"/>
            <a:ext cx="4090220" cy="7767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20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2EF94-26FE-A1B7-E295-A31400C1F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EE7298-9748-6A3C-FC5D-3399F618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2"/>
          </a:xfrm>
        </p:spPr>
        <p:txBody>
          <a:bodyPr/>
          <a:lstStyle/>
          <a:p>
            <a:pPr algn="ctr"/>
            <a:r>
              <a:rPr lang="he-IL" dirty="0"/>
              <a:t>הורדת הפרויקט למחשב (חלופי)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7032575-2AE5-D382-3B6F-49A63F51B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4790615"/>
          </a:xfrm>
        </p:spPr>
        <p:txBody>
          <a:bodyPr/>
          <a:lstStyle/>
          <a:p>
            <a:r>
              <a:rPr lang="he-IL" dirty="0"/>
              <a:t>באתר </a:t>
            </a:r>
            <a:r>
              <a:rPr lang="he-IL" dirty="0" err="1"/>
              <a:t>גיטהב</a:t>
            </a:r>
            <a:r>
              <a:rPr lang="he-IL" dirty="0"/>
              <a:t>: </a:t>
            </a:r>
            <a:r>
              <a:rPr lang="en-US" dirty="0">
                <a:hlinkClick r:id="rId2"/>
              </a:rPr>
              <a:t>h</a:t>
            </a:r>
            <a:r>
              <a:rPr lang="en-US" dirty="0">
                <a:hlinkClick r:id="rId2"/>
              </a:rPr>
              <a:t>ttps://github.com/MarkmanGilad/PETEL_Tester</a:t>
            </a:r>
            <a:r>
              <a:rPr lang="he-IL" dirty="0"/>
              <a:t> יש ללחוץ על החץ ליד </a:t>
            </a:r>
            <a:r>
              <a:rPr lang="en-US" dirty="0"/>
              <a:t>Code</a:t>
            </a:r>
            <a:r>
              <a:rPr lang="he-IL" dirty="0"/>
              <a:t>, ולבחור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en-US" dirty="0"/>
              <a:t>Download Zip</a:t>
            </a:r>
            <a:r>
              <a:rPr lang="he-IL" dirty="0"/>
              <a:t>.</a:t>
            </a:r>
          </a:p>
          <a:p>
            <a:r>
              <a:rPr lang="he-IL" dirty="0"/>
              <a:t>לשמור את הקובץ במחשב שלנו.</a:t>
            </a:r>
          </a:p>
        </p:txBody>
      </p:sp>
      <p:pic>
        <p:nvPicPr>
          <p:cNvPr id="5" name="תמונה 4" descr="תמונה שמכילה טקסט, צילום מסך, מספר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1326775-4963-02DF-325D-F435B46A3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31" y="2893665"/>
            <a:ext cx="6630585" cy="3420948"/>
          </a:xfrm>
          <a:prstGeom prst="rect">
            <a:avLst/>
          </a:prstGeom>
        </p:spPr>
      </p:pic>
      <p:sp>
        <p:nvSpPr>
          <p:cNvPr id="6" name="אליפסה 5">
            <a:extLst>
              <a:ext uri="{FF2B5EF4-FFF2-40B4-BE49-F238E27FC236}">
                <a16:creationId xmlns:a16="http://schemas.microsoft.com/office/drawing/2014/main" id="{3450198C-6E25-934D-6447-651DFD8BFE82}"/>
              </a:ext>
            </a:extLst>
          </p:cNvPr>
          <p:cNvSpPr/>
          <p:nvPr/>
        </p:nvSpPr>
        <p:spPr>
          <a:xfrm>
            <a:off x="6444384" y="3510116"/>
            <a:ext cx="344129" cy="3441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DD87A696-FE28-3D23-90A1-0F7F4FCFB30A}"/>
              </a:ext>
            </a:extLst>
          </p:cNvPr>
          <p:cNvSpPr/>
          <p:nvPr/>
        </p:nvSpPr>
        <p:spPr>
          <a:xfrm>
            <a:off x="3991897" y="5847582"/>
            <a:ext cx="934064" cy="2654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9" name="תמונה 8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32C8C1D-8B30-0F3B-EE0B-5802CD02F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4094" y="2893665"/>
            <a:ext cx="4091383" cy="337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DB407-E868-7F6D-1329-1A5C69642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2E66C9-1987-A4D6-19EB-55E129A58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2"/>
          </a:xfrm>
        </p:spPr>
        <p:txBody>
          <a:bodyPr/>
          <a:lstStyle/>
          <a:p>
            <a:pPr algn="ctr"/>
            <a:r>
              <a:rPr lang="he-IL" dirty="0"/>
              <a:t>המשך הורדת הפרויקט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1076737-DAF1-87B4-ED3A-6D5DC94B3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348"/>
            <a:ext cx="10515600" cy="4790615"/>
          </a:xfrm>
        </p:spPr>
        <p:txBody>
          <a:bodyPr/>
          <a:lstStyle/>
          <a:p>
            <a:r>
              <a:rPr lang="he-IL" dirty="0"/>
              <a:t>לאחר הורדת קובץ </a:t>
            </a:r>
            <a:r>
              <a:rPr lang="en-US" dirty="0"/>
              <a:t>Zip</a:t>
            </a:r>
            <a:r>
              <a:rPr lang="he-IL" dirty="0"/>
              <a:t> למחשב יש לפתוח (</a:t>
            </a:r>
            <a:r>
              <a:rPr lang="en-US" dirty="0"/>
              <a:t>Extract</a:t>
            </a:r>
            <a:r>
              <a:rPr lang="he-IL" dirty="0"/>
              <a:t>).</a:t>
            </a:r>
          </a:p>
          <a:p>
            <a:r>
              <a:rPr lang="he-IL" dirty="0" err="1"/>
              <a:t>להכנס</a:t>
            </a:r>
            <a:r>
              <a:rPr lang="he-IL" dirty="0"/>
              <a:t> לספריה </a:t>
            </a:r>
            <a:r>
              <a:rPr lang="en-US" dirty="0" err="1"/>
              <a:t>PETEL_Tester</a:t>
            </a:r>
            <a:r>
              <a:rPr lang="en-US" dirty="0"/>
              <a:t>-master</a:t>
            </a:r>
            <a:r>
              <a:rPr lang="he-IL" dirty="0"/>
              <a:t> ולחיצה כפולה על </a:t>
            </a:r>
            <a:r>
              <a:rPr lang="en-US" dirty="0" err="1"/>
              <a:t>PETEL_Tester.slnx</a:t>
            </a:r>
            <a:r>
              <a:rPr lang="he-IL" dirty="0"/>
              <a:t> תפעיל את הפרויקט.</a:t>
            </a:r>
          </a:p>
          <a:p>
            <a:endParaRPr lang="he-IL" dirty="0"/>
          </a:p>
          <a:p>
            <a:endParaRPr lang="he-IL" dirty="0"/>
          </a:p>
        </p:txBody>
      </p:sp>
      <p:pic>
        <p:nvPicPr>
          <p:cNvPr id="5" name="תמונה 4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D6AB3DD-EBEE-B4D8-2AFA-437AA4E6F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03" y="2922414"/>
            <a:ext cx="5134249" cy="3200850"/>
          </a:xfrm>
          <a:prstGeom prst="rect">
            <a:avLst/>
          </a:prstGeom>
        </p:spPr>
      </p:pic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79CAFEBE-A777-6B61-0E19-1A781F48AC49}"/>
              </a:ext>
            </a:extLst>
          </p:cNvPr>
          <p:cNvSpPr/>
          <p:nvPr/>
        </p:nvSpPr>
        <p:spPr>
          <a:xfrm>
            <a:off x="2408904" y="4837471"/>
            <a:ext cx="1091380" cy="2556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8" name="תמונה 7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974AD1C-4C6B-6368-9CBE-E15D13C31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22414"/>
            <a:ext cx="5459539" cy="32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290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B0CE8-81D7-C1F5-515E-E7CA62CAB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כותרת 5">
            <a:extLst>
              <a:ext uri="{FF2B5EF4-FFF2-40B4-BE49-F238E27FC236}">
                <a16:creationId xmlns:a16="http://schemas.microsoft.com/office/drawing/2014/main" id="{9F84F6F7-EAD4-7823-D865-AD30F9FAF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83227"/>
            <a:ext cx="9144000" cy="1887794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he-IL" sz="6600" b="1" dirty="0"/>
              <a:t>הכנת סביבת העבודה</a:t>
            </a:r>
            <a:br>
              <a:rPr lang="he-IL" sz="6600" b="1" dirty="0"/>
            </a:br>
            <a:r>
              <a:rPr lang="he-IL" sz="6600" b="1" dirty="0"/>
              <a:t>למשימה חדשה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6503848E-0345-5476-1102-5CFB4D746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12" y="3664974"/>
            <a:ext cx="4984775" cy="247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7269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AF341-6124-1569-63F7-9E856B21C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F2DB62D-4D73-76CD-C942-D6837119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3572"/>
          </a:xfrm>
        </p:spPr>
        <p:txBody>
          <a:bodyPr/>
          <a:lstStyle/>
          <a:p>
            <a:pPr algn="ctr"/>
            <a:r>
              <a:rPr lang="he-IL" dirty="0"/>
              <a:t>יצירת פרויקט חדש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68ED10B-376A-7583-51AD-0BB1258AE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9986" y="1386348"/>
            <a:ext cx="6663813" cy="4790615"/>
          </a:xfrm>
        </p:spPr>
        <p:txBody>
          <a:bodyPr/>
          <a:lstStyle/>
          <a:p>
            <a:r>
              <a:rPr lang="he-IL" dirty="0"/>
              <a:t>לחיצה ימנית על ה </a:t>
            </a:r>
            <a:r>
              <a:rPr lang="en-US" dirty="0"/>
              <a:t>Solution</a:t>
            </a:r>
            <a:endParaRPr lang="he-IL" dirty="0"/>
          </a:p>
          <a:p>
            <a:pPr lvl="1"/>
            <a:r>
              <a:rPr lang="en-US" dirty="0"/>
              <a:t>Add -&gt; New Project …</a:t>
            </a:r>
            <a:endParaRPr lang="he-IL" dirty="0"/>
          </a:p>
          <a:p>
            <a:r>
              <a:rPr lang="he-IL" dirty="0"/>
              <a:t>לבחור פרויקט מסוג:</a:t>
            </a:r>
            <a:br>
              <a:rPr lang="en-US" dirty="0"/>
            </a:br>
            <a:r>
              <a:rPr lang="en-US" dirty="0"/>
              <a:t>C#</a:t>
            </a:r>
            <a:r>
              <a:rPr lang="he-IL" dirty="0"/>
              <a:t> </a:t>
            </a:r>
            <a:r>
              <a:rPr lang="en-US" dirty="0"/>
              <a:t>Console App (</a:t>
            </a:r>
            <a:r>
              <a:rPr lang="en-US" dirty="0" err="1"/>
              <a:t>.Net</a:t>
            </a:r>
            <a:r>
              <a:rPr lang="en-US" dirty="0"/>
              <a:t> Framework)</a:t>
            </a:r>
            <a:endParaRPr lang="he-IL" dirty="0"/>
          </a:p>
          <a:p>
            <a:r>
              <a:rPr lang="he-IL" dirty="0"/>
              <a:t>ללחוץ </a:t>
            </a:r>
            <a:r>
              <a:rPr lang="en-US" dirty="0"/>
              <a:t>Next</a:t>
            </a:r>
            <a:endParaRPr lang="he-IL" dirty="0"/>
          </a:p>
        </p:txBody>
      </p:sp>
      <p:pic>
        <p:nvPicPr>
          <p:cNvPr id="5" name="תמונה 4" descr="תמונה שמכילה טקסט, צילום מסך, תוכנה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97F793F-3091-990E-D0AA-C9B40B518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96" y="1562022"/>
            <a:ext cx="4190618" cy="4439265"/>
          </a:xfrm>
          <a:prstGeom prst="rect">
            <a:avLst/>
          </a:prstGeom>
        </p:spPr>
      </p:pic>
      <p:pic>
        <p:nvPicPr>
          <p:cNvPr id="9" name="תמונה 8" descr="תמונה שמכילה טקסט, צילום מסך, תוכנה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E52354E-CCB6-38F9-A4A5-A50C25DD1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163" y="3276960"/>
            <a:ext cx="4499489" cy="290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62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68B292-5814-62BD-3F64-51CAFF57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יצירת פרויקט חדש - המשך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FC3D03E-B43F-C066-B407-08D9BB96B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</p:spPr>
        <p:txBody>
          <a:bodyPr/>
          <a:lstStyle/>
          <a:p>
            <a:endParaRPr lang="he-IL" dirty="0"/>
          </a:p>
          <a:p>
            <a:r>
              <a:rPr lang="he-IL" dirty="0"/>
              <a:t>לבחור שם לפרויקט.</a:t>
            </a:r>
          </a:p>
          <a:p>
            <a:endParaRPr lang="he-IL" dirty="0"/>
          </a:p>
          <a:p>
            <a:r>
              <a:rPr lang="he-IL" dirty="0"/>
              <a:t>ללחוץ </a:t>
            </a:r>
            <a:r>
              <a:rPr lang="en-US" dirty="0"/>
              <a:t>Create</a:t>
            </a:r>
            <a:r>
              <a:rPr lang="he-IL" dirty="0"/>
              <a:t>.</a:t>
            </a:r>
          </a:p>
        </p:txBody>
      </p:sp>
      <p:pic>
        <p:nvPicPr>
          <p:cNvPr id="5" name="תמונה 4" descr="תמונה שמכילה טקסט, צילום מסך, תוכנה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E7317BD-D73B-73A8-571C-AAD10D8E1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35510"/>
            <a:ext cx="7344764" cy="474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233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BE05C-F3AC-E1AA-77B5-3FA6E614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7916E62-19EB-BE89-610A-7930AFEE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65125"/>
            <a:ext cx="5257800" cy="686927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התקנת ספריות נחוצות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C2F22CC-5116-EFFE-F941-2719FF78F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0184" y="1258529"/>
            <a:ext cx="6373616" cy="4918434"/>
          </a:xfrm>
        </p:spPr>
        <p:txBody>
          <a:bodyPr/>
          <a:lstStyle/>
          <a:p>
            <a:r>
              <a:rPr lang="he-IL" dirty="0"/>
              <a:t>על מנת להתקין ספריות נחוצות נלחץ קליק ימני על ה </a:t>
            </a:r>
            <a:r>
              <a:rPr lang="en-US" dirty="0"/>
              <a:t>Solution</a:t>
            </a:r>
            <a:r>
              <a:rPr lang="he-IL" dirty="0"/>
              <a:t> ונבחר:</a:t>
            </a:r>
          </a:p>
          <a:p>
            <a:pPr lvl="1"/>
            <a:r>
              <a:rPr lang="en-US" dirty="0"/>
              <a:t>Manage NuGet  Packages for Solution …</a:t>
            </a:r>
            <a:endParaRPr lang="he-IL" dirty="0"/>
          </a:p>
          <a:p>
            <a:r>
              <a:rPr lang="he-IL" dirty="0"/>
              <a:t>בחלון שיפתח:</a:t>
            </a:r>
          </a:p>
          <a:p>
            <a:pPr lvl="1"/>
            <a:r>
              <a:rPr lang="he-IL" dirty="0"/>
              <a:t>נבחר </a:t>
            </a:r>
            <a:r>
              <a:rPr lang="en-US" dirty="0"/>
              <a:t>Installed</a:t>
            </a:r>
            <a:r>
              <a:rPr lang="he-IL" dirty="0"/>
              <a:t>.</a:t>
            </a:r>
          </a:p>
          <a:p>
            <a:pPr lvl="1"/>
            <a:r>
              <a:rPr lang="he-IL" dirty="0"/>
              <a:t>נבחר </a:t>
            </a:r>
            <a:r>
              <a:rPr lang="en-US" dirty="0" err="1"/>
              <a:t>Microsoft.CodeAnalysis.Csharp</a:t>
            </a:r>
            <a:endParaRPr lang="he-IL" dirty="0"/>
          </a:p>
          <a:p>
            <a:pPr lvl="1"/>
            <a:r>
              <a:rPr lang="he-IL" dirty="0"/>
              <a:t>נסמן </a:t>
            </a:r>
            <a:r>
              <a:rPr lang="en-US" dirty="0"/>
              <a:t>V</a:t>
            </a:r>
            <a:r>
              <a:rPr lang="he-IL" dirty="0"/>
              <a:t> בשם הפרויקט שלנו.</a:t>
            </a:r>
          </a:p>
          <a:p>
            <a:pPr lvl="1"/>
            <a:r>
              <a:rPr lang="he-IL" dirty="0"/>
              <a:t>נוודא שהגרסה היא </a:t>
            </a:r>
            <a:r>
              <a:rPr lang="en-US" dirty="0"/>
              <a:t>4.10.0</a:t>
            </a:r>
            <a:endParaRPr lang="he-IL" dirty="0"/>
          </a:p>
          <a:p>
            <a:pPr lvl="1"/>
            <a:r>
              <a:rPr lang="he-IL" dirty="0"/>
              <a:t>***** אסור לעדכן </a:t>
            </a:r>
            <a:r>
              <a:rPr lang="he-IL" dirty="0" err="1"/>
              <a:t>גירסה</a:t>
            </a:r>
            <a:r>
              <a:rPr lang="he-IL" dirty="0"/>
              <a:t> *******</a:t>
            </a:r>
          </a:p>
          <a:p>
            <a:r>
              <a:rPr lang="he-IL" dirty="0"/>
              <a:t>נלחץ </a:t>
            </a:r>
            <a:r>
              <a:rPr lang="en-US" dirty="0"/>
              <a:t>Install</a:t>
            </a:r>
            <a:r>
              <a:rPr lang="he-IL" dirty="0"/>
              <a:t>.</a:t>
            </a:r>
          </a:p>
          <a:p>
            <a:r>
              <a:rPr lang="he-IL" dirty="0"/>
              <a:t>נאשר </a:t>
            </a:r>
            <a:r>
              <a:rPr lang="en-US" dirty="0"/>
              <a:t>I Accept</a:t>
            </a:r>
            <a:endParaRPr lang="he-IL" dirty="0"/>
          </a:p>
          <a:p>
            <a:pPr lvl="1"/>
            <a:endParaRPr lang="he-IL" dirty="0"/>
          </a:p>
          <a:p>
            <a:pPr lvl="1"/>
            <a:endParaRPr lang="he-IL" dirty="0"/>
          </a:p>
        </p:txBody>
      </p:sp>
      <p:pic>
        <p:nvPicPr>
          <p:cNvPr id="5" name="תמונה 4" descr="תמונה שמכילה טקסט, צילום מסך, תוכנה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0F5146B-5126-58F9-095A-475AFFF79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20" y="464166"/>
            <a:ext cx="4277322" cy="3648584"/>
          </a:xfrm>
          <a:prstGeom prst="rect">
            <a:avLst/>
          </a:prstGeom>
        </p:spPr>
      </p:pic>
      <p:grpSp>
        <p:nvGrpSpPr>
          <p:cNvPr id="14" name="קבוצה 13">
            <a:extLst>
              <a:ext uri="{FF2B5EF4-FFF2-40B4-BE49-F238E27FC236}">
                <a16:creationId xmlns:a16="http://schemas.microsoft.com/office/drawing/2014/main" id="{937418D2-DCCF-4502-5BD5-6663042603A7}"/>
              </a:ext>
            </a:extLst>
          </p:cNvPr>
          <p:cNvGrpSpPr/>
          <p:nvPr/>
        </p:nvGrpSpPr>
        <p:grpSpPr>
          <a:xfrm>
            <a:off x="501445" y="3962150"/>
            <a:ext cx="5830530" cy="2832757"/>
            <a:chOff x="540774" y="3660118"/>
            <a:chExt cx="5830530" cy="2832757"/>
          </a:xfrm>
        </p:grpSpPr>
        <p:pic>
          <p:nvPicPr>
            <p:cNvPr id="7" name="תמונה 6" descr="תמונה שמכילה טקסט, צילום מסך, תוכנה, תכונות מולטימדיה&#10;&#10;תוכן בינה מלאכותית גנרטיבית עשוי להיות שגוי.">
              <a:extLst>
                <a:ext uri="{FF2B5EF4-FFF2-40B4-BE49-F238E27FC236}">
                  <a16:creationId xmlns:a16="http://schemas.microsoft.com/office/drawing/2014/main" id="{3F4F761D-60CD-9628-AC12-0C1DF97D2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775" y="3660118"/>
              <a:ext cx="5830529" cy="2832757"/>
            </a:xfrm>
            <a:prstGeom prst="rect">
              <a:avLst/>
            </a:prstGeom>
          </p:spPr>
        </p:pic>
        <p:sp>
          <p:nvSpPr>
            <p:cNvPr id="8" name="מלבן: פינות מעוגלות 7">
              <a:extLst>
                <a:ext uri="{FF2B5EF4-FFF2-40B4-BE49-F238E27FC236}">
                  <a16:creationId xmlns:a16="http://schemas.microsoft.com/office/drawing/2014/main" id="{ED311790-529B-FE12-52AB-9F7060E5355E}"/>
                </a:ext>
              </a:extLst>
            </p:cNvPr>
            <p:cNvSpPr/>
            <p:nvPr/>
          </p:nvSpPr>
          <p:spPr>
            <a:xfrm>
              <a:off x="540774" y="4965290"/>
              <a:ext cx="2369574" cy="383458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מלבן: פינות מעוגלות 8">
              <a:extLst>
                <a:ext uri="{FF2B5EF4-FFF2-40B4-BE49-F238E27FC236}">
                  <a16:creationId xmlns:a16="http://schemas.microsoft.com/office/drawing/2014/main" id="{CE922361-B859-0ABE-1803-5048D25BD80B}"/>
                </a:ext>
              </a:extLst>
            </p:cNvPr>
            <p:cNvSpPr/>
            <p:nvPr/>
          </p:nvSpPr>
          <p:spPr>
            <a:xfrm>
              <a:off x="894735" y="3991897"/>
              <a:ext cx="363794" cy="24580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cxnSp>
        <p:nvCxnSpPr>
          <p:cNvPr id="13" name="מחבר חץ ישר 12">
            <a:extLst>
              <a:ext uri="{FF2B5EF4-FFF2-40B4-BE49-F238E27FC236}">
                <a16:creationId xmlns:a16="http://schemas.microsoft.com/office/drawing/2014/main" id="{22CCC2D4-CE66-0C72-B28F-F9C2356A7D0E}"/>
              </a:ext>
            </a:extLst>
          </p:cNvPr>
          <p:cNvCxnSpPr/>
          <p:nvPr/>
        </p:nvCxnSpPr>
        <p:spPr>
          <a:xfrm flipH="1">
            <a:off x="3932903" y="2281084"/>
            <a:ext cx="1376516" cy="6587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62C2454C-D499-9FCB-306C-81F471BCCB30}"/>
              </a:ext>
            </a:extLst>
          </p:cNvPr>
          <p:cNvSpPr/>
          <p:nvPr/>
        </p:nvSpPr>
        <p:spPr>
          <a:xfrm>
            <a:off x="4277032" y="4886632"/>
            <a:ext cx="703152" cy="55060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CD90FF09-4468-DCFD-6250-5DD4E5D9395E}"/>
              </a:ext>
            </a:extLst>
          </p:cNvPr>
          <p:cNvSpPr/>
          <p:nvPr/>
        </p:nvSpPr>
        <p:spPr>
          <a:xfrm>
            <a:off x="4294674" y="5599471"/>
            <a:ext cx="685510" cy="38345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9429B2C2-900F-F521-76CA-30E404F65B25}"/>
              </a:ext>
            </a:extLst>
          </p:cNvPr>
          <p:cNvSpPr/>
          <p:nvPr/>
        </p:nvSpPr>
        <p:spPr>
          <a:xfrm>
            <a:off x="5754621" y="5769388"/>
            <a:ext cx="479032" cy="2135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2840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FF303-D963-0A09-23DC-CCE085447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1B16BE-E32A-7213-F095-1E22ED1B0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העתקת קבצים לפרויקט החדש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A700669-6C78-3850-C3B7-7F801D8DC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258529"/>
            <a:ext cx="6781799" cy="4918434"/>
          </a:xfrm>
        </p:spPr>
        <p:txBody>
          <a:bodyPr/>
          <a:lstStyle/>
          <a:p>
            <a:r>
              <a:rPr lang="he-IL" dirty="0"/>
              <a:t>לחיצה ימנית על הפרויקט ולבחור:</a:t>
            </a:r>
          </a:p>
          <a:p>
            <a:pPr algn="l" rtl="0"/>
            <a:r>
              <a:rPr lang="en-US" dirty="0"/>
              <a:t>Add -&gt; Existing Item …</a:t>
            </a:r>
          </a:p>
          <a:p>
            <a:pPr algn="r"/>
            <a:r>
              <a:rPr lang="he-IL" dirty="0"/>
              <a:t>להגיע לספריה </a:t>
            </a:r>
            <a:r>
              <a:rPr lang="en-US" dirty="0" err="1"/>
              <a:t>PETEL_Tester</a:t>
            </a:r>
            <a:r>
              <a:rPr lang="en-US" dirty="0"/>
              <a:t>/</a:t>
            </a:r>
            <a:r>
              <a:rPr lang="en-US" dirty="0" err="1"/>
              <a:t>PETEL_Tester</a:t>
            </a:r>
            <a:r>
              <a:rPr lang="he-IL" dirty="0"/>
              <a:t>.</a:t>
            </a:r>
          </a:p>
          <a:p>
            <a:pPr algn="r"/>
            <a:r>
              <a:rPr lang="he-IL" dirty="0"/>
              <a:t>לסמן ולהוסיף את כל הקבצים למעט </a:t>
            </a:r>
            <a:r>
              <a:rPr lang="en-US" dirty="0" err="1"/>
              <a:t>Program.cs</a:t>
            </a:r>
            <a:endParaRPr lang="he-IL" dirty="0"/>
          </a:p>
          <a:p>
            <a:pPr algn="r"/>
            <a:endParaRPr lang="he-IL" dirty="0"/>
          </a:p>
          <a:p>
            <a:pPr algn="r"/>
            <a:r>
              <a:rPr lang="he-IL" dirty="0"/>
              <a:t>ללחוץ </a:t>
            </a:r>
            <a:r>
              <a:rPr lang="en-US" dirty="0"/>
              <a:t>Add</a:t>
            </a:r>
            <a:endParaRPr lang="he-IL" dirty="0"/>
          </a:p>
          <a:p>
            <a:pPr algn="r"/>
            <a:endParaRPr lang="he-IL" dirty="0"/>
          </a:p>
        </p:txBody>
      </p:sp>
      <p:pic>
        <p:nvPicPr>
          <p:cNvPr id="5" name="תמונה 4" descr="תמונה שמכילה טקסט, צילום מסך, תוכנה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4BA8D31-6723-91EB-1FED-74A251AAA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2" y="1311301"/>
            <a:ext cx="4161084" cy="4812890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תוכנה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533CE8E-C807-C437-4E3D-C6C0FE230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56629"/>
            <a:ext cx="4402095" cy="2767562"/>
          </a:xfrm>
          <a:prstGeom prst="rect">
            <a:avLst/>
          </a:prstGeom>
        </p:spPr>
      </p:pic>
      <p:sp>
        <p:nvSpPr>
          <p:cNvPr id="8" name="אליפסה 7">
            <a:extLst>
              <a:ext uri="{FF2B5EF4-FFF2-40B4-BE49-F238E27FC236}">
                <a16:creationId xmlns:a16="http://schemas.microsoft.com/office/drawing/2014/main" id="{202CF48F-BB4B-65BD-9530-CED29139A6FD}"/>
              </a:ext>
            </a:extLst>
          </p:cNvPr>
          <p:cNvSpPr/>
          <p:nvPr/>
        </p:nvSpPr>
        <p:spPr>
          <a:xfrm>
            <a:off x="7993626" y="5869858"/>
            <a:ext cx="462116" cy="2543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0" name="מחבר חץ ישר 9">
            <a:extLst>
              <a:ext uri="{FF2B5EF4-FFF2-40B4-BE49-F238E27FC236}">
                <a16:creationId xmlns:a16="http://schemas.microsoft.com/office/drawing/2014/main" id="{C9E9EA9D-2612-3D06-6CAB-C8E30408BB19}"/>
              </a:ext>
            </a:extLst>
          </p:cNvPr>
          <p:cNvCxnSpPr/>
          <p:nvPr/>
        </p:nvCxnSpPr>
        <p:spPr>
          <a:xfrm flipH="1">
            <a:off x="8455742" y="4483510"/>
            <a:ext cx="1052052" cy="13863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103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352D1-E6E9-8B69-99FB-BE9D49480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38E6E5-AF89-2E32-F389-A7835B574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קביעת פרויקט ונקודת כניסה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9206E6C-C275-CECD-D192-0500E0D17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0528" y="1258529"/>
            <a:ext cx="5523271" cy="4918434"/>
          </a:xfrm>
        </p:spPr>
        <p:txBody>
          <a:bodyPr>
            <a:normAutofit lnSpcReduction="10000"/>
          </a:bodyPr>
          <a:lstStyle/>
          <a:p>
            <a:r>
              <a:rPr lang="he-IL" dirty="0"/>
              <a:t>נבחר את הפרויקט שאנחנו מריצים.</a:t>
            </a:r>
          </a:p>
          <a:p>
            <a:endParaRPr lang="he-IL" dirty="0"/>
          </a:p>
          <a:p>
            <a:r>
              <a:rPr lang="he-IL" dirty="0"/>
              <a:t>הפרויקט כולל שתי פעולות </a:t>
            </a:r>
            <a:r>
              <a:rPr lang="en-US" dirty="0"/>
              <a:t>Main</a:t>
            </a:r>
            <a:r>
              <a:rPr lang="he-IL" dirty="0"/>
              <a:t>:</a:t>
            </a:r>
          </a:p>
          <a:p>
            <a:pPr lvl="1"/>
            <a:r>
              <a:rPr lang="he-IL" dirty="0"/>
              <a:t>במחלקה </a:t>
            </a:r>
            <a:r>
              <a:rPr lang="en-US" dirty="0" err="1"/>
              <a:t>Program.cs</a:t>
            </a:r>
            <a:endParaRPr lang="en-US" dirty="0"/>
          </a:p>
          <a:p>
            <a:pPr lvl="1"/>
            <a:r>
              <a:rPr lang="he-IL" dirty="0"/>
              <a:t>במחלקה </a:t>
            </a:r>
            <a:r>
              <a:rPr lang="en-US" dirty="0" err="1"/>
              <a:t>MainTetser.cs</a:t>
            </a:r>
            <a:endParaRPr lang="he-IL" dirty="0"/>
          </a:p>
          <a:p>
            <a:pPr lvl="1"/>
            <a:endParaRPr lang="he-IL" dirty="0"/>
          </a:p>
          <a:p>
            <a:r>
              <a:rPr lang="he-IL" dirty="0"/>
              <a:t>קליק ימני על שם הפרויקט ולחיצה על </a:t>
            </a:r>
            <a:r>
              <a:rPr lang="en-US" dirty="0"/>
              <a:t>Properties</a:t>
            </a:r>
            <a:r>
              <a:rPr lang="he-IL" dirty="0"/>
              <a:t>.</a:t>
            </a:r>
          </a:p>
          <a:p>
            <a:r>
              <a:rPr lang="he-IL" dirty="0"/>
              <a:t>בחירת </a:t>
            </a:r>
            <a:r>
              <a:rPr lang="en-US" dirty="0" err="1"/>
              <a:t>Main_Tetser</a:t>
            </a:r>
            <a:r>
              <a:rPr lang="he-IL" dirty="0"/>
              <a:t> כנקודת הכניסה שלנו.</a:t>
            </a:r>
          </a:p>
          <a:p>
            <a:r>
              <a:rPr lang="he-IL" dirty="0"/>
              <a:t>נשמור את ההגדרות </a:t>
            </a:r>
            <a:r>
              <a:rPr lang="en-US" dirty="0"/>
              <a:t>ctrl-s</a:t>
            </a:r>
            <a:endParaRPr lang="he-IL" dirty="0"/>
          </a:p>
          <a:p>
            <a:pPr lvl="1"/>
            <a:endParaRPr lang="he-IL" dirty="0"/>
          </a:p>
          <a:p>
            <a:endParaRPr lang="he-IL" dirty="0"/>
          </a:p>
        </p:txBody>
      </p:sp>
      <p:pic>
        <p:nvPicPr>
          <p:cNvPr id="5" name="תמונה 4" descr="תמונה שמכילה תכונות מולטימדיה, תוכנה, טקסט, תוכנה גרפית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A6454A7-E656-FC14-301A-30B0C6CB02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23"/>
          <a:stretch>
            <a:fillRect/>
          </a:stretch>
        </p:blipFill>
        <p:spPr>
          <a:xfrm>
            <a:off x="838200" y="1258529"/>
            <a:ext cx="4915152" cy="1762371"/>
          </a:xfrm>
          <a:prstGeom prst="rect">
            <a:avLst/>
          </a:prstGeom>
        </p:spPr>
      </p:pic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098A1FEF-7099-B0CC-DA98-4633DFC071AA}"/>
              </a:ext>
            </a:extLst>
          </p:cNvPr>
          <p:cNvSpPr/>
          <p:nvPr/>
        </p:nvSpPr>
        <p:spPr>
          <a:xfrm>
            <a:off x="2477729" y="1533832"/>
            <a:ext cx="1091381" cy="3048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9" name="תמונה 8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83830FF-81D2-1DA7-431A-AF910CD8A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27377"/>
            <a:ext cx="3998139" cy="3299390"/>
          </a:xfrm>
          <a:prstGeom prst="rect">
            <a:avLst/>
          </a:prstGeom>
        </p:spPr>
      </p:pic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7C4FE902-B1C7-7605-0015-59D2C1AD5DE2}"/>
              </a:ext>
            </a:extLst>
          </p:cNvPr>
          <p:cNvSpPr/>
          <p:nvPr/>
        </p:nvSpPr>
        <p:spPr>
          <a:xfrm>
            <a:off x="1573161" y="4444181"/>
            <a:ext cx="1582994" cy="7079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DC6A5DB9-E4EE-37AE-8E1F-EAC8128FDFF3}"/>
              </a:ext>
            </a:extLst>
          </p:cNvPr>
          <p:cNvCxnSpPr/>
          <p:nvPr/>
        </p:nvCxnSpPr>
        <p:spPr>
          <a:xfrm flipH="1" flipV="1">
            <a:off x="3156155" y="4925961"/>
            <a:ext cx="2802193" cy="2261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40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736FC-77FC-A824-ACFE-7248A7B9C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718EF16-E54E-F50B-2B7E-A8D97476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הפרויקט מוכן לפיתוח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BD1BE05-0162-8E07-2413-ADD06CE68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</p:spPr>
        <p:txBody>
          <a:bodyPr/>
          <a:lstStyle/>
          <a:p>
            <a:r>
              <a:rPr lang="he-IL" dirty="0"/>
              <a:t>הפרויקט כולל את כל הקבצים הנדרשים להכנת משימה חדשה.</a:t>
            </a:r>
          </a:p>
          <a:p>
            <a:r>
              <a:rPr lang="he-IL" dirty="0"/>
              <a:t>ניתן להריץ את הפרויקט </a:t>
            </a:r>
            <a:r>
              <a:rPr lang="en-US" dirty="0"/>
              <a:t>ctrl-F5</a:t>
            </a:r>
            <a:r>
              <a:rPr lang="he-IL" dirty="0"/>
              <a:t> ולראות את תוצאות ההרצה של תרגיל לדוגמה: </a:t>
            </a:r>
            <a:r>
              <a:rPr lang="en-US" dirty="0" err="1"/>
              <a:t>countRemoveItem</a:t>
            </a:r>
            <a:r>
              <a:rPr lang="en-US" dirty="0"/>
              <a:t>()</a:t>
            </a:r>
            <a:r>
              <a:rPr lang="he-IL" dirty="0"/>
              <a:t>.</a:t>
            </a:r>
          </a:p>
        </p:txBody>
      </p:sp>
      <p:pic>
        <p:nvPicPr>
          <p:cNvPr id="7" name="תמונה 6" descr="תמונה שמכילה טקסט, צילום מסך, תוכנה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9BADC8A-68F7-4B60-BE8C-D100F5DBE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671" y="2720970"/>
            <a:ext cx="6626657" cy="389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44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349A7-819A-1141-A018-48FC71011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3">
            <a:extLst>
              <a:ext uri="{FF2B5EF4-FFF2-40B4-BE49-F238E27FC236}">
                <a16:creationId xmlns:a16="http://schemas.microsoft.com/office/drawing/2014/main" id="{98CE5E91-8E30-FC11-7E75-D44C5698A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7395"/>
            <a:ext cx="9144000" cy="1001405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he-IL" dirty="0"/>
              <a:t>בניית </a:t>
            </a:r>
            <a:r>
              <a:rPr lang="en-US" dirty="0"/>
              <a:t>Tester</a:t>
            </a:r>
            <a:endParaRPr lang="he-IL" dirty="0"/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9DF20379-53E6-46EE-73AC-6D87DD668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840" y="2230259"/>
            <a:ext cx="4272319" cy="399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912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959A-E605-6872-27CC-04B1AA1EA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700F453-1FE6-F52F-791F-BB86FC494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כללי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ADEBB1F-E5E9-C684-D8D2-079AC3697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</p:spPr>
        <p:txBody>
          <a:bodyPr/>
          <a:lstStyle/>
          <a:p>
            <a:r>
              <a:rPr lang="he-IL" dirty="0"/>
              <a:t>בניית </a:t>
            </a:r>
            <a:r>
              <a:rPr lang="en-US" dirty="0"/>
              <a:t>Tester</a:t>
            </a:r>
            <a:r>
              <a:rPr lang="he-IL" dirty="0"/>
              <a:t> מחייבת עדכון שלושה קבצים:</a:t>
            </a:r>
          </a:p>
          <a:p>
            <a:pPr lvl="1"/>
            <a:r>
              <a:rPr lang="en-US" dirty="0" err="1"/>
              <a:t>MainTeter.cs</a:t>
            </a:r>
            <a:r>
              <a:rPr lang="he-IL" dirty="0"/>
              <a:t> - קובץ הבדיקות.</a:t>
            </a:r>
          </a:p>
          <a:p>
            <a:pPr lvl="1"/>
            <a:r>
              <a:rPr lang="en-US" dirty="0" err="1"/>
              <a:t>TeacherAnswer.cs</a:t>
            </a:r>
            <a:r>
              <a:rPr lang="he-IL" dirty="0"/>
              <a:t> – קובץ הפתרון המשמש בסיס להשוואה לקוד התלמיד.</a:t>
            </a:r>
          </a:p>
          <a:p>
            <a:pPr lvl="1"/>
            <a:r>
              <a:rPr lang="en-US" dirty="0" err="1"/>
              <a:t>StudentAnswer.cs</a:t>
            </a:r>
            <a:r>
              <a:rPr lang="he-IL" dirty="0"/>
              <a:t> – דוגמה לפתרון תלמיד לבדיקת גילוי שגיאות שונות.</a:t>
            </a:r>
          </a:p>
          <a:p>
            <a:r>
              <a:rPr lang="he-IL" dirty="0"/>
              <a:t>אם מבקשים לבדוק את תוצאות הרצת הפתרונות של המורה או של התלמיד, ניתן לזמן אותם מהקובץ </a:t>
            </a:r>
            <a:r>
              <a:rPr lang="en-US" dirty="0" err="1"/>
              <a:t>Program.cs</a:t>
            </a:r>
            <a:r>
              <a:rPr lang="he-IL" dirty="0"/>
              <a:t> ולהגדיר אותו כנקודת כניסה.</a:t>
            </a:r>
          </a:p>
          <a:p>
            <a:r>
              <a:rPr lang="he-IL" dirty="0"/>
              <a:t>אם רוצים לבדוק כיצד הטסטר בודק את פתרון התרגיל, מגדירים את </a:t>
            </a:r>
            <a:r>
              <a:rPr lang="en-US" dirty="0" err="1"/>
              <a:t>MainTester</a:t>
            </a:r>
            <a:r>
              <a:rPr lang="he-IL" dirty="0"/>
              <a:t> כנקודת כניסה ומריצים את הקוד.</a:t>
            </a:r>
          </a:p>
          <a:p>
            <a:r>
              <a:rPr lang="he-IL" dirty="0"/>
              <a:t>המחלקה </a:t>
            </a:r>
            <a:r>
              <a:rPr lang="en-US" dirty="0"/>
              <a:t>Unit4</a:t>
            </a:r>
            <a:r>
              <a:rPr lang="he-IL" dirty="0"/>
              <a:t> כוללת את כל המחלקות הנדרשות ליחידה מבנה נתונים ובנוסף כוללת </a:t>
            </a:r>
            <a:r>
              <a:rPr lang="en-US" dirty="0"/>
              <a:t>Helper</a:t>
            </a:r>
            <a:r>
              <a:rPr lang="he-IL" dirty="0"/>
              <a:t> ליצירת והדפסת מבני נתונים (ראו בהמשך).</a:t>
            </a:r>
          </a:p>
        </p:txBody>
      </p:sp>
    </p:spTree>
    <p:extLst>
      <p:ext uri="{BB962C8B-B14F-4D97-AF65-F5344CB8AC3E}">
        <p14:creationId xmlns:p14="http://schemas.microsoft.com/office/powerpoint/2010/main" val="3397509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4ED1A-0AA6-0628-2E66-6112578BD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3">
            <a:extLst>
              <a:ext uri="{FF2B5EF4-FFF2-40B4-BE49-F238E27FC236}">
                <a16:creationId xmlns:a16="http://schemas.microsoft.com/office/drawing/2014/main" id="{426064EF-A99E-9ABA-359D-D38A09858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7395"/>
            <a:ext cx="9144000" cy="1443857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he-IL" dirty="0"/>
              <a:t>בדיקת התשובה של המורה</a:t>
            </a:r>
            <a:br>
              <a:rPr lang="he-IL" dirty="0"/>
            </a:br>
            <a:r>
              <a:rPr lang="en-US" dirty="0"/>
              <a:t>Unit4Helper</a:t>
            </a:r>
            <a:endParaRPr lang="he-IL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3E6AB092-9CD2-6A63-8118-87B9C3CD9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706" y="2392925"/>
            <a:ext cx="3394587" cy="379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0528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C41C2-2120-2829-85DD-E4661E82A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4D1B11-0B3F-3102-4985-FECD763D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פתרון המורה והתלמיד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D043368-CA90-B325-7308-BD45D4670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</p:spPr>
        <p:txBody>
          <a:bodyPr/>
          <a:lstStyle/>
          <a:p>
            <a:r>
              <a:rPr lang="he-IL" dirty="0"/>
              <a:t>נבנה את פתרון המורה ואת פתרון התלמיד לתרגיל של העתקת תור.</a:t>
            </a:r>
          </a:p>
          <a:p>
            <a:r>
              <a:rPr lang="he-IL" dirty="0"/>
              <a:t>פתרון התלמיד כולל שגיאה בכך שלא שומר על התור המקורי.</a:t>
            </a:r>
          </a:p>
        </p:txBody>
      </p:sp>
      <p:pic>
        <p:nvPicPr>
          <p:cNvPr id="5" name="תמונה 4" descr="תמונה שמכילה טקסט, צילום מסך, תוכנה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BA7B782-7C9B-3A8E-AE26-738ED834F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53908"/>
            <a:ext cx="5344271" cy="3629532"/>
          </a:xfrm>
          <a:prstGeom prst="rect">
            <a:avLst/>
          </a:prstGeom>
        </p:spPr>
      </p:pic>
      <p:pic>
        <p:nvPicPr>
          <p:cNvPr id="9" name="תמונה 8" descr="תמונה שמכילה טקסט, צילום מסך, תוכנה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C8B576D-3443-4EAD-3220-7FC2E6D92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07447"/>
            <a:ext cx="4638803" cy="432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011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05A43-5625-ECE9-8A79-F1DD84E12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502E37F-6588-ED34-990A-4E97E720E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  <a:noFill/>
        </p:spPr>
        <p:txBody>
          <a:bodyPr/>
          <a:lstStyle/>
          <a:p>
            <a:r>
              <a:rPr lang="he-IL" dirty="0"/>
              <a:t>נגדיר את </a:t>
            </a:r>
            <a:r>
              <a:rPr lang="en-US" dirty="0" err="1"/>
              <a:t>Program.cs</a:t>
            </a:r>
            <a:r>
              <a:rPr lang="he-IL" dirty="0"/>
              <a:t> כנקודת הכניסה באמצעות המאפיינים של הפרויקט.</a:t>
            </a:r>
          </a:p>
          <a:p>
            <a:r>
              <a:rPr lang="he-IL" dirty="0"/>
              <a:t>נעדכן את </a:t>
            </a:r>
            <a:r>
              <a:rPr lang="en-US" dirty="0"/>
              <a:t>using</a:t>
            </a:r>
            <a:r>
              <a:rPr lang="he-IL" dirty="0"/>
              <a:t> בהתאם לתמונה.</a:t>
            </a:r>
          </a:p>
          <a:p>
            <a:r>
              <a:rPr lang="he-IL" dirty="0"/>
              <a:t>ניצור תור לדוגמה.</a:t>
            </a:r>
          </a:p>
          <a:p>
            <a:r>
              <a:rPr lang="he-IL" dirty="0"/>
              <a:t>נקרא לפעולה של התלמיד.</a:t>
            </a:r>
          </a:p>
          <a:p>
            <a:r>
              <a:rPr lang="he-IL" dirty="0"/>
              <a:t>נדפיס תוצאות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A456BD5-104B-4F02-0140-3BA3D4305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הרצת הקוד לבדיקה – </a:t>
            </a:r>
            <a:r>
              <a:rPr lang="en-US" dirty="0"/>
              <a:t>Unit4Helper</a:t>
            </a:r>
            <a:endParaRPr lang="he-IL" dirty="0"/>
          </a:p>
        </p:txBody>
      </p:sp>
      <p:pic>
        <p:nvPicPr>
          <p:cNvPr id="7" name="תמונה 6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AD12D14-0068-13BE-635B-20CD3E1AB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169" y="4000431"/>
            <a:ext cx="2936452" cy="2102232"/>
          </a:xfrm>
          <a:prstGeom prst="rect">
            <a:avLst/>
          </a:prstGeom>
          <a:ln w="38100">
            <a:noFill/>
          </a:ln>
        </p:spPr>
      </p:pic>
      <p:pic>
        <p:nvPicPr>
          <p:cNvPr id="9" name="תמונה 8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575EB04-C84E-74BB-2AEA-AA87D66F7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385" y="1852244"/>
            <a:ext cx="5220429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55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95B12-0E89-01AA-21F3-964BF1495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252F2C-248B-2096-D4BD-EE57AF38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פעולות ב </a:t>
            </a:r>
            <a:r>
              <a:rPr lang="en-US" dirty="0"/>
              <a:t>Unit4Helper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772712-B90D-DEB9-76BC-37C2E9155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9"/>
            <a:ext cx="10515600" cy="4918434"/>
          </a:xfrm>
        </p:spPr>
        <p:txBody>
          <a:bodyPr/>
          <a:lstStyle/>
          <a:p>
            <a:r>
              <a:rPr lang="he-IL" dirty="0"/>
              <a:t>רשימת חוליות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תור</a:t>
            </a:r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מחסנית</a:t>
            </a:r>
          </a:p>
        </p:txBody>
      </p:sp>
      <p:pic>
        <p:nvPicPr>
          <p:cNvPr id="5" name="תמונה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0CBAE20-77F6-8848-694D-9D3658613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8529"/>
            <a:ext cx="7925906" cy="1810003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גופן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A8DF511-0C7B-50F0-CA1E-2560ECCA1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70008"/>
            <a:ext cx="7411484" cy="1352739"/>
          </a:xfrm>
          <a:prstGeom prst="rect">
            <a:avLst/>
          </a:prstGeom>
        </p:spPr>
      </p:pic>
      <p:pic>
        <p:nvPicPr>
          <p:cNvPr id="9" name="תמונה 8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8D7ABC8-4027-96B5-4C41-BCA4B05C4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792941"/>
            <a:ext cx="7382905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72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E2010-1B2F-162C-23B3-567326A9D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30FAD5F-AF65-C177-D42F-EC840D70F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פעולות עבור עצים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5F2601-A216-EF43-4EF3-283557FCC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0032" y="1258529"/>
            <a:ext cx="8443768" cy="4918434"/>
          </a:xfrm>
        </p:spPr>
        <p:txBody>
          <a:bodyPr/>
          <a:lstStyle/>
          <a:p>
            <a:r>
              <a:rPr lang="he-IL" dirty="0"/>
              <a:t>הוספנו פעולה המאפשרת לבנות עצים מקובץ טקסט.</a:t>
            </a:r>
          </a:p>
          <a:p>
            <a:r>
              <a:rPr lang="he-IL" dirty="0"/>
              <a:t>אנחנו בונים קובץ טקסט בצורה הבאה. יש לעשות שימוש </a:t>
            </a:r>
            <a:r>
              <a:rPr lang="he-IL" dirty="0" err="1"/>
              <a:t>בטאב</a:t>
            </a:r>
            <a:r>
              <a:rPr lang="he-IL" dirty="0"/>
              <a:t> לירידה ברמה.</a:t>
            </a:r>
          </a:p>
          <a:p>
            <a:r>
              <a:rPr lang="he-IL" dirty="0"/>
              <a:t>הפעולה קוראת את העץ מהקובץ ויוצרת</a:t>
            </a:r>
            <a:br>
              <a:rPr lang="en-US" dirty="0"/>
            </a:br>
            <a:r>
              <a:rPr lang="he-IL" dirty="0"/>
              <a:t>אובייקט של עץ בינארי.</a:t>
            </a:r>
          </a:p>
          <a:p>
            <a:r>
              <a:rPr lang="he-IL" dirty="0"/>
              <a:t>הוספנו הדפסה של העצים.</a:t>
            </a:r>
          </a:p>
        </p:txBody>
      </p:sp>
      <p:pic>
        <p:nvPicPr>
          <p:cNvPr id="5" name="תמונה 4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53F4F3F-45A6-8ADC-1267-AE1BEC479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863" y="2397710"/>
            <a:ext cx="2114845" cy="2572109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F6454F1-FC86-EA75-C421-7DD2E8AA2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255" y="4195486"/>
            <a:ext cx="6030167" cy="1981477"/>
          </a:xfrm>
          <a:prstGeom prst="rect">
            <a:avLst/>
          </a:prstGeom>
        </p:spPr>
      </p:pic>
      <p:pic>
        <p:nvPicPr>
          <p:cNvPr id="9" name="תמונה 8" descr="תמונה שמכילה טקסט, צילום מסך, תרשים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71A5CD0-8F97-57FB-A97D-A101E78ED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82" y="542522"/>
            <a:ext cx="2172003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293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377515-1CAA-5EE4-AEB9-E38993DFE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487"/>
            <a:ext cx="10515600" cy="1102288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he-IL" dirty="0"/>
              <a:t>בניית </a:t>
            </a:r>
            <a:r>
              <a:rPr lang="en-US" dirty="0"/>
              <a:t>Case Test</a:t>
            </a:r>
            <a:endParaRPr lang="he-IL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E32B9495-A4EE-CD3E-08D9-5302B0357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335" y="2533804"/>
            <a:ext cx="6007330" cy="298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585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6E00570-0326-E6E3-A2DB-B08E0BE04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en-US" dirty="0" err="1"/>
              <a:t>MainTester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002F617-3B8F-FBAD-A123-0518C4F49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/>
          <a:lstStyle/>
          <a:p>
            <a:r>
              <a:rPr lang="he-IL" dirty="0"/>
              <a:t>לאחר שבנינו את תשובת המורה ותשובת התלמיד נוכל לעבור לבניית הבדיקה עצמה.</a:t>
            </a:r>
          </a:p>
          <a:p>
            <a:r>
              <a:rPr lang="he-IL" dirty="0"/>
              <a:t>יש להגדיר את </a:t>
            </a:r>
            <a:r>
              <a:rPr lang="en-US" dirty="0" err="1"/>
              <a:t>MainTester</a:t>
            </a:r>
            <a:r>
              <a:rPr lang="he-IL" dirty="0"/>
              <a:t> כנקודת הכניסה של הפרויקט (במקום </a:t>
            </a:r>
            <a:r>
              <a:rPr lang="en-US" dirty="0"/>
              <a:t>Program</a:t>
            </a:r>
            <a:r>
              <a:rPr lang="he-IL" dirty="0"/>
              <a:t>).</a:t>
            </a:r>
          </a:p>
          <a:p>
            <a:r>
              <a:rPr lang="he-IL" dirty="0"/>
              <a:t>המחלקה בנויה משלוש פעולות סטטיות:</a:t>
            </a:r>
          </a:p>
          <a:p>
            <a:pPr lvl="1"/>
            <a:r>
              <a:rPr lang="en-US" dirty="0"/>
              <a:t>Main</a:t>
            </a:r>
            <a:r>
              <a:rPr lang="he-IL" dirty="0"/>
              <a:t> – הפעולה הראשית</a:t>
            </a:r>
          </a:p>
          <a:p>
            <a:pPr lvl="1"/>
            <a:r>
              <a:rPr lang="en-US" dirty="0" err="1"/>
              <a:t>CaseTester</a:t>
            </a:r>
            <a:r>
              <a:rPr lang="he-IL" dirty="0"/>
              <a:t> – בדיקת הרצת הקוד.</a:t>
            </a:r>
          </a:p>
          <a:p>
            <a:pPr lvl="1"/>
            <a:r>
              <a:rPr lang="en-US" dirty="0" err="1"/>
              <a:t>CodeTester</a:t>
            </a:r>
            <a:r>
              <a:rPr lang="he-IL" dirty="0"/>
              <a:t> - בדיקה תחביר </a:t>
            </a:r>
            <a:br>
              <a:rPr lang="en-US" dirty="0"/>
            </a:br>
            <a:r>
              <a:rPr lang="he-IL" dirty="0"/>
              <a:t>התשובה של התלמיד.</a:t>
            </a:r>
          </a:p>
        </p:txBody>
      </p:sp>
      <p:pic>
        <p:nvPicPr>
          <p:cNvPr id="5" name="תמונה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FA2813B-1C26-A850-050E-B60F83C01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08609"/>
            <a:ext cx="5363323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147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6CE59-ACC0-2959-F471-CA42FC29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CB1D506-5CC6-C8CB-A10D-6BBAB6238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en-US" dirty="0"/>
              <a:t>Main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3A41AE3-3079-D2BF-0C10-F8149E4CA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54" y="1297858"/>
            <a:ext cx="5149645" cy="4879105"/>
          </a:xfrm>
        </p:spPr>
        <p:txBody>
          <a:bodyPr>
            <a:normAutofit lnSpcReduction="10000"/>
          </a:bodyPr>
          <a:lstStyle/>
          <a:p>
            <a:r>
              <a:rPr lang="he-IL" dirty="0"/>
              <a:t>בשלב ראשון עלינו להגדיר אובייקט של הטסטר:</a:t>
            </a:r>
          </a:p>
          <a:p>
            <a:pPr lvl="1"/>
            <a:r>
              <a:rPr lang="en-US" dirty="0" err="1"/>
              <a:t>StudentFile</a:t>
            </a:r>
            <a:r>
              <a:rPr lang="he-IL" dirty="0"/>
              <a:t> – שם הקובץ ב </a:t>
            </a:r>
            <a:r>
              <a:rPr lang="en-US" dirty="0"/>
              <a:t>VPL</a:t>
            </a:r>
            <a:endParaRPr lang="he-IL" dirty="0"/>
          </a:p>
          <a:p>
            <a:pPr lvl="1"/>
            <a:r>
              <a:rPr lang="en-US" dirty="0" err="1"/>
              <a:t>StudentNamespace</a:t>
            </a:r>
            <a:r>
              <a:rPr lang="he-IL" dirty="0"/>
              <a:t> – אם לא הוגדר יש להשאיר ריק.</a:t>
            </a:r>
          </a:p>
          <a:p>
            <a:pPr lvl="1"/>
            <a:r>
              <a:rPr lang="en-US" dirty="0" err="1"/>
              <a:t>StudentMethodName</a:t>
            </a:r>
            <a:r>
              <a:rPr lang="he-IL" dirty="0"/>
              <a:t> – שם הפעולה הנבדקת.</a:t>
            </a:r>
          </a:p>
          <a:p>
            <a:pPr lvl="1"/>
            <a:r>
              <a:rPr lang="en-US" dirty="0" err="1"/>
              <a:t>teacherNamespace</a:t>
            </a:r>
            <a:r>
              <a:rPr lang="he-IL" dirty="0"/>
              <a:t> - בהתאם לפתרון המורה (מומלץ לא לשנות).</a:t>
            </a:r>
          </a:p>
          <a:p>
            <a:pPr lvl="1"/>
            <a:r>
              <a:rPr lang="en-US" dirty="0" err="1"/>
              <a:t>teacherMethodNake</a:t>
            </a:r>
            <a:r>
              <a:rPr lang="he-IL" dirty="0"/>
              <a:t> – שם הפעולה הנבדקת בקוד המורה.</a:t>
            </a:r>
          </a:p>
          <a:p>
            <a:pPr lvl="1"/>
            <a:r>
              <a:rPr lang="en-US" dirty="0" err="1"/>
              <a:t>showDetails</a:t>
            </a:r>
            <a:r>
              <a:rPr lang="he-IL" dirty="0"/>
              <a:t> – האם לתת תשובה מפורטת לתלמיד.</a:t>
            </a:r>
          </a:p>
          <a:p>
            <a:r>
              <a:rPr lang="he-IL" dirty="0"/>
              <a:t>פרט לכך, אין צורך לעשות שינויים.</a:t>
            </a:r>
          </a:p>
        </p:txBody>
      </p:sp>
      <p:pic>
        <p:nvPicPr>
          <p:cNvPr id="7" name="תמונה 6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9F43572-8EEA-043F-33D1-1A890FB12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75" y="1297858"/>
            <a:ext cx="5325218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42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0C98C-9EE0-52C9-9AA2-D7214B413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E797DC-76F1-29F7-F6C2-65D42CC26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en-US" dirty="0" err="1"/>
              <a:t>CaseTester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EB7035C-B231-8C93-5E1F-77EBE402C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/>
          <a:lstStyle/>
          <a:p>
            <a:r>
              <a:rPr lang="he-IL" dirty="0"/>
              <a:t>דוגמה לבדיקה של הפעולה העתקת קוד. הבדיקה נכשלה כיוון שהתלמיד שינה את התור המקורי</a:t>
            </a:r>
            <a:r>
              <a:rPr lang="en-US" dirty="0"/>
              <a:t> </a:t>
            </a:r>
            <a:r>
              <a:rPr lang="he-IL" dirty="0"/>
              <a:t>.</a:t>
            </a:r>
          </a:p>
        </p:txBody>
      </p:sp>
      <p:pic>
        <p:nvPicPr>
          <p:cNvPr id="5" name="תמונה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4504F04B-2AF1-D991-CD47-8A604BE4E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652" y="2099845"/>
            <a:ext cx="8030696" cy="1991003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גופן, שחו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607AA89-FE5B-4352-0916-1A54A21C2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643" y="4165513"/>
            <a:ext cx="8154714" cy="232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9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0BE6B-DEAC-33D4-E64D-56411FCBA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AD6DFAD-05B7-63BD-7023-7CE3C0CE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השלבים לבניית בדיקה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797952F-E265-7F17-92BD-A8724D298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/>
          <a:lstStyle/>
          <a:p>
            <a:r>
              <a:rPr lang="he-IL" dirty="0"/>
              <a:t>בניית הפרמטרים (הדוגמאות), כגון רשימה, תור וכד'.</a:t>
            </a:r>
          </a:p>
          <a:p>
            <a:r>
              <a:rPr lang="he-IL" dirty="0"/>
              <a:t>קריאה לפעולת הבדיקה </a:t>
            </a:r>
            <a:r>
              <a:rPr lang="en-US" dirty="0" err="1"/>
              <a:t>TestMethod</a:t>
            </a:r>
            <a:r>
              <a:rPr lang="he-IL" dirty="0"/>
              <a:t>:</a:t>
            </a:r>
          </a:p>
          <a:p>
            <a:pPr lvl="1"/>
            <a:r>
              <a:rPr lang="en-US" dirty="0" err="1"/>
              <a:t>testName</a:t>
            </a:r>
            <a:r>
              <a:rPr lang="he-IL" dirty="0"/>
              <a:t> – שם הבדיקה ניתן לכלול פירוט לתלמיד.</a:t>
            </a:r>
          </a:p>
          <a:p>
            <a:pPr lvl="1"/>
            <a:r>
              <a:rPr lang="en-US" dirty="0"/>
              <a:t>Points</a:t>
            </a:r>
            <a:r>
              <a:rPr lang="he-IL" dirty="0"/>
              <a:t> – מספר הנקודות שהבדיקה שווה.</a:t>
            </a:r>
          </a:p>
          <a:p>
            <a:pPr lvl="1"/>
            <a:r>
              <a:rPr lang="en-US" dirty="0"/>
              <a:t>Parameters</a:t>
            </a:r>
            <a:r>
              <a:rPr lang="he-IL" dirty="0"/>
              <a:t> - רשימה של אובייקטים הכולל את הפרמטרים המועברים לפעולה.</a:t>
            </a:r>
          </a:p>
          <a:p>
            <a:r>
              <a:rPr lang="he-IL" dirty="0"/>
              <a:t>ניתן לבנות מספר בדיקות בזו אחר זו.</a:t>
            </a:r>
          </a:p>
        </p:txBody>
      </p:sp>
      <p:pic>
        <p:nvPicPr>
          <p:cNvPr id="4" name="תמונה 3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A30604A-9956-0D72-9A95-43D806CEF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606" y="4144173"/>
            <a:ext cx="8030696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4533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DAF16-31D8-616D-C7DB-1F0A2AE3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4ED9A85-71CC-19BF-5534-93996015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הפרמטרים של </a:t>
            </a:r>
            <a:r>
              <a:rPr lang="en-US" dirty="0" err="1"/>
              <a:t>TestMethod</a:t>
            </a:r>
            <a:endParaRPr lang="he-IL" dirty="0"/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D0AC68D4-15F7-A82C-FA2F-E66AB70B3C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9471220"/>
              </p:ext>
            </p:extLst>
          </p:nvPr>
        </p:nvGraphicFramePr>
        <p:xfrm>
          <a:off x="838200" y="1255355"/>
          <a:ext cx="10515600" cy="505968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701413">
                  <a:extLst>
                    <a:ext uri="{9D8B030D-6E8A-4147-A177-3AD203B41FA5}">
                      <a16:colId xmlns:a16="http://schemas.microsoft.com/office/drawing/2014/main" val="3881911551"/>
                    </a:ext>
                  </a:extLst>
                </a:gridCol>
                <a:gridCol w="1809135">
                  <a:extLst>
                    <a:ext uri="{9D8B030D-6E8A-4147-A177-3AD203B41FA5}">
                      <a16:colId xmlns:a16="http://schemas.microsoft.com/office/drawing/2014/main" val="1713064212"/>
                    </a:ext>
                  </a:extLst>
                </a:gridCol>
                <a:gridCol w="6005052">
                  <a:extLst>
                    <a:ext uri="{9D8B030D-6E8A-4147-A177-3AD203B41FA5}">
                      <a16:colId xmlns:a16="http://schemas.microsoft.com/office/drawing/2014/main" val="447124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פרמטר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סוג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הסבר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668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testName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String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* שם הבדיקה והסבר קצר לתלמיד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989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Points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* מספר הנקודות שיקבל התלמיד אם יעבור את הבדיקה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160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Parameters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Object []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מערך אובייקטים הכולל את הפרמטרים שיש להעביר לפעולה.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505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consoleInput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String , string [], List&lt;string&gt; 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הקלט במקרה והפעולה דורשת </a:t>
                      </a:r>
                      <a:r>
                        <a:rPr lang="en-US" dirty="0"/>
                        <a:t>read</a:t>
                      </a:r>
                      <a:r>
                        <a:rPr lang="he-IL" dirty="0"/>
                        <a:t>. הקלט יכול להיות כל אחד מהסוגים </a:t>
                      </a:r>
                      <a:r>
                        <a:rPr lang="he-IL" dirty="0" err="1"/>
                        <a:t>המצויינים</a:t>
                      </a:r>
                      <a:r>
                        <a:rPr lang="he-IL" dirty="0"/>
                        <a:t>. במקרה של לולאת קלט ניתן לתת מערך של מחרוזות או רשימה של מחרוזות.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16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captureConsoleOutput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Bool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האם להשוות את הפלט לקונסול במקרה והפעולה כוללת </a:t>
                      </a:r>
                      <a:r>
                        <a:rPr lang="en-US" dirty="0"/>
                        <a:t>write </a:t>
                      </a:r>
                      <a:r>
                        <a:rPr lang="he-IL" dirty="0"/>
                        <a:t>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803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compareParams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Boot (default: true)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האם הפעולה שינתה את הפרמטרים (משווה את הפרמטרים לאחר הפעולה)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149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exceptionComments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Dictionary&lt;Type, string&gt;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אופציונאלי: אפשרות לשנות את הודעת השגיאה במקרה של </a:t>
                      </a:r>
                      <a:r>
                        <a:rPr lang="en-US" dirty="0"/>
                        <a:t>Exception</a:t>
                      </a:r>
                      <a:r>
                        <a:rPr lang="he-IL" dirty="0"/>
                        <a:t> אצל התלמיד.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52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compareReturn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Bool (default: true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אופציונאלי: האם לבדוק את הערך המוחזר מהפעולה?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893275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rtl="1"/>
                      <a:r>
                        <a:rPr lang="he-IL" dirty="0"/>
                        <a:t>* פרמטר חובה. השאר אופציונאלי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45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624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348A3-0A82-4BEA-740B-F3860EDCF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436262-687A-BA0B-B3E6-568931E35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דוגמאות לבדיקות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5E3C5AF-C7D1-E515-B8F3-2BF8CFD9C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3110" y="1157748"/>
            <a:ext cx="5400690" cy="2271252"/>
          </a:xfrm>
        </p:spPr>
        <p:txBody>
          <a:bodyPr/>
          <a:lstStyle/>
          <a:p>
            <a:r>
              <a:rPr lang="he-IL" dirty="0"/>
              <a:t>תרגיל: כתוב פעולה המקבלת מספר שלם </a:t>
            </a:r>
            <a:r>
              <a:rPr lang="en-US" dirty="0"/>
              <a:t>num</a:t>
            </a:r>
            <a:r>
              <a:rPr lang="he-IL" dirty="0"/>
              <a:t>. הפעולה תקלוט מחירים של מוצרים כמספר ה </a:t>
            </a:r>
            <a:r>
              <a:rPr lang="en-US" dirty="0"/>
              <a:t>num</a:t>
            </a:r>
            <a:r>
              <a:rPr lang="he-IL" dirty="0"/>
              <a:t>. הפעולה תדפיס את סכום המוצרים ותחזיר את הממוצע שלהם.</a:t>
            </a:r>
          </a:p>
        </p:txBody>
      </p:sp>
      <p:pic>
        <p:nvPicPr>
          <p:cNvPr id="5" name="תמונה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B921D53-9843-8362-CB20-40F781102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57" y="1091382"/>
            <a:ext cx="5400690" cy="5681799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C4D485B-FF1A-D47A-0294-92C02C9D5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751" y="3637936"/>
            <a:ext cx="5781831" cy="237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3582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634F3-958F-4738-7FE3-8F37020E9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BA4D425-9DC5-DD78-ECB5-BEE0DC3CD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דוגמאות לבדיקה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E7FF498-338F-848E-D006-D54A155C7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5974" y="1091382"/>
            <a:ext cx="3497826" cy="5401492"/>
          </a:xfrm>
        </p:spPr>
        <p:txBody>
          <a:bodyPr>
            <a:normAutofit/>
          </a:bodyPr>
          <a:lstStyle/>
          <a:p>
            <a:r>
              <a:rPr lang="he-IL" dirty="0"/>
              <a:t>כתבו פעולה המעתיקה תור מבלי לפגוע בתור המקורי.</a:t>
            </a:r>
          </a:p>
          <a:p>
            <a:r>
              <a:rPr lang="he-IL" dirty="0"/>
              <a:t>בדיקה ראשונה – בודק רק את התור המוחזר ולא בודק אם התור המקורי השתנה.</a:t>
            </a:r>
          </a:p>
          <a:p>
            <a:r>
              <a:rPr lang="he-IL" dirty="0"/>
              <a:t>בדיקה שניה – בודק רק אם התור המקורי השתנה.</a:t>
            </a:r>
          </a:p>
          <a:p>
            <a:r>
              <a:rPr lang="he-IL" dirty="0"/>
              <a:t>בדיקה שלישית – בודק את שניהם</a:t>
            </a:r>
          </a:p>
          <a:p>
            <a:endParaRPr lang="he-IL" dirty="0"/>
          </a:p>
        </p:txBody>
      </p:sp>
      <p:pic>
        <p:nvPicPr>
          <p:cNvPr id="7" name="תמונה 6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E5608BC-8EFD-CC19-93DB-E85FFDB8B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85" y="1091382"/>
            <a:ext cx="7313303" cy="556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43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AB621-CB79-2D76-2DF6-2E797BF29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5A00A6-0B8C-5EDA-B214-58535675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הוספת הודעת שגיאה מותאמת אישית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E570423-F1F8-0900-5AEF-6E42C7D57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/>
          <a:lstStyle/>
          <a:p>
            <a:r>
              <a:rPr lang="he-IL" dirty="0"/>
              <a:t>באפשרותנו להוסיף להודעות השגיאה של המערכת הודעות שגיאה מותאמת אישית.</a:t>
            </a:r>
          </a:p>
          <a:p>
            <a:r>
              <a:rPr lang="he-IL" dirty="0"/>
              <a:t>לדוגמה הודעת השגיאה:</a:t>
            </a:r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לאחר השינוי הוספה ההודעה הבאה: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AB7F0EFB-F861-D647-7356-9A833F2AE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23" y="2792919"/>
            <a:ext cx="11488753" cy="800212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7F73AAE5-DCAB-473E-145C-9EBEB129D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8" y="4275362"/>
            <a:ext cx="11441122" cy="1219370"/>
          </a:xfrm>
          <a:prstGeom prst="rect">
            <a:avLst/>
          </a:prstGeom>
        </p:spPr>
      </p:pic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692E7F2F-B668-3BCB-4645-46841FA0FEA8}"/>
              </a:ext>
            </a:extLst>
          </p:cNvPr>
          <p:cNvSpPr/>
          <p:nvPr/>
        </p:nvSpPr>
        <p:spPr>
          <a:xfrm>
            <a:off x="351623" y="5034116"/>
            <a:ext cx="4446519" cy="2605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435491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92A36-8E37-9FA5-F258-EEB79E01E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26A4FCF-AEE2-E8AC-5C1E-7BCCAA705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הוספת הודעת שגיאה מותאמת אישית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047BE13-3DF7-57B9-389C-1FFAFA023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/>
          <a:lstStyle/>
          <a:p>
            <a:r>
              <a:rPr lang="en-US" dirty="0"/>
              <a:t> </a:t>
            </a:r>
            <a:r>
              <a:rPr lang="he-IL" dirty="0"/>
              <a:t>עלינו להגדיר מילון בו המפתח הוא סוג השגיאה והערך הודעת השגיאה.</a:t>
            </a:r>
          </a:p>
          <a:p>
            <a:r>
              <a:rPr lang="he-IL" dirty="0"/>
              <a:t>בפרמטרים של הבדיקה נוסיף את המילון ב </a:t>
            </a:r>
            <a:r>
              <a:rPr lang="en-US" dirty="0" err="1"/>
              <a:t>exceptionComments</a:t>
            </a:r>
            <a:r>
              <a:rPr lang="he-IL" dirty="0"/>
              <a:t>.</a:t>
            </a:r>
          </a:p>
        </p:txBody>
      </p:sp>
      <p:pic>
        <p:nvPicPr>
          <p:cNvPr id="5" name="תמונה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9C2768C-3EBC-3CF8-08D4-31EBF23F6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902" y="2423589"/>
            <a:ext cx="8135485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4628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49187-7A90-4C68-1C9D-E75CFC3BD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D26AFB-F3F9-B5F4-C702-8EE2E424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487"/>
            <a:ext cx="10515600" cy="1102288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he-IL" b="1" dirty="0"/>
              <a:t>בניית </a:t>
            </a:r>
            <a:r>
              <a:rPr lang="en-US" b="1" dirty="0"/>
              <a:t>Code Test</a:t>
            </a:r>
            <a:endParaRPr lang="he-IL" b="1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B50A5508-C502-9DD7-11C2-3C99A0E79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335" y="2533804"/>
            <a:ext cx="6007330" cy="298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0698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67E39-3983-9AE1-E537-4CB585FF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E1D250-C2D9-6B65-216F-D39E2F7D7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בדיקת תחביר הקוד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72E11A0-E3E2-7E7A-2BCF-EB9B195DF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/>
          <a:lstStyle/>
          <a:p>
            <a:r>
              <a:rPr lang="he-IL" dirty="0"/>
              <a:t>במערכת הבדיקות ניתן לבצע בנוסף בדיקה תחבירית של הקוד שכתב התלמיד כגון: האם הפעולה רקורסיבית, האם הפעולה סטטית, האם הפרמטרים של הפעולה תקינים, האם הערך המוחזר תקין ועוד.</a:t>
            </a:r>
          </a:p>
          <a:p>
            <a:r>
              <a:rPr lang="he-IL" dirty="0"/>
              <a:t>דוגמה – בדיקה האם התלמיד השתמש בלולאות מכוננות:</a:t>
            </a:r>
          </a:p>
        </p:txBody>
      </p:sp>
      <p:pic>
        <p:nvPicPr>
          <p:cNvPr id="5" name="תמונה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ED2A078-410E-386F-1823-5B8464800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537" y="3178298"/>
            <a:ext cx="8221222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80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A90E-483A-9B3A-23DE-CEFEAE43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0A59A19-811F-2D1A-DBA5-93EC54F7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בניית בדיקת תחביר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67B59CE-0779-A467-DD6E-CAF4DF6EE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/>
          <a:lstStyle/>
          <a:p>
            <a:r>
              <a:rPr lang="he-IL" dirty="0"/>
              <a:t> בתחילת הפעולה </a:t>
            </a:r>
            <a:r>
              <a:rPr lang="en-US" dirty="0" err="1"/>
              <a:t>CodeTester</a:t>
            </a:r>
            <a:r>
              <a:rPr lang="he-IL" dirty="0"/>
              <a:t> עלינו לאתחל את </a:t>
            </a:r>
            <a:r>
              <a:rPr lang="en-US" dirty="0" err="1"/>
              <a:t>CodeAnalyzer</a:t>
            </a:r>
            <a:r>
              <a:rPr lang="he-IL" dirty="0"/>
              <a:t>.</a:t>
            </a:r>
          </a:p>
          <a:p>
            <a:endParaRPr lang="he-IL" dirty="0"/>
          </a:p>
          <a:p>
            <a:r>
              <a:rPr lang="he-IL" dirty="0"/>
              <a:t>נוסיף את שם הבדיקה והסבר.</a:t>
            </a:r>
          </a:p>
          <a:p>
            <a:r>
              <a:rPr lang="he-IL" dirty="0"/>
              <a:t>מספר הנקודות.</a:t>
            </a:r>
          </a:p>
          <a:p>
            <a:r>
              <a:rPr lang="he-IL" dirty="0"/>
              <a:t>סוג הבדיקה לפי רשימה קבועה</a:t>
            </a:r>
            <a:br>
              <a:rPr lang="en-US" dirty="0"/>
            </a:br>
            <a:r>
              <a:rPr lang="he-IL" dirty="0"/>
              <a:t>מראש (ראו </a:t>
            </a:r>
            <a:r>
              <a:rPr lang="he-IL" dirty="0" err="1"/>
              <a:t>במהשך</a:t>
            </a:r>
            <a:r>
              <a:rPr lang="he-IL" dirty="0"/>
              <a:t>).</a:t>
            </a:r>
          </a:p>
          <a:p>
            <a:r>
              <a:rPr lang="he-IL" dirty="0"/>
              <a:t>פרמטרים נוספים אופציונאליים:</a:t>
            </a:r>
            <a:br>
              <a:rPr lang="en-US" dirty="0"/>
            </a:br>
            <a:r>
              <a:rPr lang="he-IL" dirty="0"/>
              <a:t>כגון הודעת שגיאה.</a:t>
            </a:r>
          </a:p>
        </p:txBody>
      </p:sp>
      <p:pic>
        <p:nvPicPr>
          <p:cNvPr id="4" name="תמונה 3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9296F02-4B1A-6DDF-43C8-72DEABB170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516"/>
          <a:stretch>
            <a:fillRect/>
          </a:stretch>
        </p:blipFill>
        <p:spPr>
          <a:xfrm>
            <a:off x="726859" y="2496252"/>
            <a:ext cx="5959076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900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234C5-E339-3851-0F45-855673A33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CB8E7C2-A877-3822-6364-0F027FE16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פרמטרים של </a:t>
            </a:r>
            <a:r>
              <a:rPr lang="en-US" dirty="0" err="1"/>
              <a:t>TestCodeStructure</a:t>
            </a:r>
            <a:endParaRPr lang="he-IL" dirty="0"/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FC6946B8-081A-83CA-F8D2-FE1DDA7F90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419022"/>
              </p:ext>
            </p:extLst>
          </p:nvPr>
        </p:nvGraphicFramePr>
        <p:xfrm>
          <a:off x="838203" y="1825625"/>
          <a:ext cx="10515597" cy="323596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728019">
                  <a:extLst>
                    <a:ext uri="{9D8B030D-6E8A-4147-A177-3AD203B41FA5}">
                      <a16:colId xmlns:a16="http://schemas.microsoft.com/office/drawing/2014/main" val="1602028083"/>
                    </a:ext>
                  </a:extLst>
                </a:gridCol>
                <a:gridCol w="2467897">
                  <a:extLst>
                    <a:ext uri="{9D8B030D-6E8A-4147-A177-3AD203B41FA5}">
                      <a16:colId xmlns:a16="http://schemas.microsoft.com/office/drawing/2014/main" val="1023329456"/>
                    </a:ext>
                  </a:extLst>
                </a:gridCol>
                <a:gridCol w="6319681">
                  <a:extLst>
                    <a:ext uri="{9D8B030D-6E8A-4147-A177-3AD203B41FA5}">
                      <a16:colId xmlns:a16="http://schemas.microsoft.com/office/drawing/2014/main" val="24800451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פרמטר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סוג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פירוט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868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testName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String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שם הבדיקה והסבר קצר שלה – הטקסט יופיע לתלמיד.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892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points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הנקודות שיקבל התלמיד אם יעבור את </a:t>
                      </a:r>
                      <a:r>
                        <a:rPr lang="he-IL" dirty="0" err="1"/>
                        <a:t>הדיקה</a:t>
                      </a:r>
                      <a:r>
                        <a:rPr lang="he-IL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797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checkType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CodeStructureCheck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סוג הבדיקה לפי רשימה קבועה מראש (ראו בהמשך).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526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shouldPass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Bool (default=true)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אופציונאלי: האם תוצאות הבדיקה המצופה היא חיובית או שלישית.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791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expectedCount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Int ? (default=null</a:t>
                      </a:r>
                      <a:r>
                        <a:rPr lang="he-IL" dirty="0"/>
                        <a:t>(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אופציונאלי: בבדיקות כמותיות המספר המצופה (לדוגמה: מספר הלולאות).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085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failureMessage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String (default= null)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אופציונאלי: הודעת שגיאה לתלמיד אם הבדיקה נכשלת.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879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95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9718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11CA0-7058-8BFE-014E-D12FC819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11EBCB5-F19C-CAFD-8DE5-667092CC9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סוגי הבדיקות – המחלקה </a:t>
            </a:r>
            <a:r>
              <a:rPr lang="en-US" dirty="0" err="1"/>
              <a:t>CodeStructureCheck</a:t>
            </a:r>
            <a:endParaRPr lang="he-IL" dirty="0"/>
          </a:p>
        </p:txBody>
      </p:sp>
      <p:graphicFrame>
        <p:nvGraphicFramePr>
          <p:cNvPr id="7" name="מציין מיקום תוכן 6">
            <a:extLst>
              <a:ext uri="{FF2B5EF4-FFF2-40B4-BE49-F238E27FC236}">
                <a16:creationId xmlns:a16="http://schemas.microsoft.com/office/drawing/2014/main" id="{FB1A6FC3-4262-6D43-6898-C1C08E322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0131985"/>
              </p:ext>
            </p:extLst>
          </p:nvPr>
        </p:nvGraphicFramePr>
        <p:xfrm>
          <a:off x="838200" y="1275019"/>
          <a:ext cx="10515600" cy="48209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603090">
                  <a:extLst>
                    <a:ext uri="{9D8B030D-6E8A-4147-A177-3AD203B41FA5}">
                      <a16:colId xmlns:a16="http://schemas.microsoft.com/office/drawing/2014/main" val="2980325453"/>
                    </a:ext>
                  </a:extLst>
                </a:gridCol>
                <a:gridCol w="1179871">
                  <a:extLst>
                    <a:ext uri="{9D8B030D-6E8A-4147-A177-3AD203B41FA5}">
                      <a16:colId xmlns:a16="http://schemas.microsoft.com/office/drawing/2014/main" val="503131898"/>
                    </a:ext>
                  </a:extLst>
                </a:gridCol>
                <a:gridCol w="6732639">
                  <a:extLst>
                    <a:ext uri="{9D8B030D-6E8A-4147-A177-3AD203B41FA5}">
                      <a16:colId xmlns:a16="http://schemas.microsoft.com/office/drawing/2014/main" val="2869224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שם הבדיקה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ערך מוחזר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תיאור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407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IsRecursive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bool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האם קיימת קריאה רקורסיבית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719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CountForLoop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לולאות </a:t>
                      </a:r>
                      <a:r>
                        <a:rPr lang="en-US" dirty="0"/>
                        <a:t>for</a:t>
                      </a:r>
                      <a:r>
                        <a:rPr lang="he-IL" dirty="0"/>
                        <a:t> בהם השתמש התלמיד (לאו דווקא מכוננות).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91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CountWhileLoop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לולאות </a:t>
                      </a:r>
                      <a:r>
                        <a:rPr lang="en-US" dirty="0"/>
                        <a:t>while</a:t>
                      </a:r>
                      <a:r>
                        <a:rPr lang="he-IL" dirty="0"/>
                        <a:t> בהם השתמש התלמיד (לאו דווקא מכוננות).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20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CountForEachLoop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לולאות </a:t>
                      </a:r>
                      <a:r>
                        <a:rPr lang="en-US" dirty="0" err="1"/>
                        <a:t>forEach</a:t>
                      </a:r>
                      <a:r>
                        <a:rPr lang="he-IL" dirty="0"/>
                        <a:t> בהם השתמש התלמיד (לאו דווקא מכוננות).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270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CountAnyLoop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לולאות מכל סוג בהם השתמש התלמיד (לאו דווקא מכוננות).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77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CountIfStatements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התנאים בהם השתמש התלמיד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168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CountRecursiveCalls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הקריאות הרקורסיביות בפעולה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761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CountReturnStatements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פקודות ה </a:t>
                      </a:r>
                      <a:r>
                        <a:rPr lang="en-US" dirty="0"/>
                        <a:t>return</a:t>
                      </a:r>
                      <a:r>
                        <a:rPr lang="he-IL" dirty="0"/>
                        <a:t> בפעולה.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789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CountNewNodes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הפקודות </a:t>
                      </a:r>
                      <a:r>
                        <a:rPr lang="en-US" dirty="0"/>
                        <a:t>new Node&lt;T&gt;</a:t>
                      </a:r>
                      <a:r>
                        <a:rPr lang="he-IL" dirty="0"/>
                        <a:t> בפעולה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989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CountNewQueue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פקודות </a:t>
                      </a:r>
                      <a:r>
                        <a:rPr lang="en-US" dirty="0"/>
                        <a:t>new Queue&lt;T&gt;</a:t>
                      </a:r>
                      <a:r>
                        <a:rPr lang="he-IL" dirty="0"/>
                        <a:t> בפעולה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683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CountNewStack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פקודות </a:t>
                      </a:r>
                      <a:r>
                        <a:rPr lang="en-US" dirty="0"/>
                        <a:t>new Stack&lt;T&gt;</a:t>
                      </a:r>
                      <a:r>
                        <a:rPr lang="he-IL" dirty="0"/>
                        <a:t> בפעולה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124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CountNewBinNode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פקודות </a:t>
                      </a:r>
                      <a:r>
                        <a:rPr lang="en-US" dirty="0"/>
                        <a:t>new </a:t>
                      </a:r>
                      <a:r>
                        <a:rPr lang="en-US" dirty="0" err="1"/>
                        <a:t>BinNode</a:t>
                      </a:r>
                      <a:r>
                        <a:rPr lang="en-US" dirty="0"/>
                        <a:t>&lt;T&gt;</a:t>
                      </a:r>
                      <a:r>
                        <a:rPr lang="he-IL" dirty="0"/>
                        <a:t> בפעולה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033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8495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1F2A9-CA9C-90B6-BB12-359D47968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51C3298-A983-E2F1-1465-DB6D210AB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סוגי הבדיקות – המשך</a:t>
            </a:r>
          </a:p>
        </p:txBody>
      </p:sp>
      <p:graphicFrame>
        <p:nvGraphicFramePr>
          <p:cNvPr id="7" name="מציין מיקום תוכן 6">
            <a:extLst>
              <a:ext uri="{FF2B5EF4-FFF2-40B4-BE49-F238E27FC236}">
                <a16:creationId xmlns:a16="http://schemas.microsoft.com/office/drawing/2014/main" id="{22678BEF-DC99-6B25-ACDD-E9C665E80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048988"/>
              </p:ext>
            </p:extLst>
          </p:nvPr>
        </p:nvGraphicFramePr>
        <p:xfrm>
          <a:off x="838200" y="1275019"/>
          <a:ext cx="10515600" cy="40792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603090">
                  <a:extLst>
                    <a:ext uri="{9D8B030D-6E8A-4147-A177-3AD203B41FA5}">
                      <a16:colId xmlns:a16="http://schemas.microsoft.com/office/drawing/2014/main" val="2980325453"/>
                    </a:ext>
                  </a:extLst>
                </a:gridCol>
                <a:gridCol w="1179871">
                  <a:extLst>
                    <a:ext uri="{9D8B030D-6E8A-4147-A177-3AD203B41FA5}">
                      <a16:colId xmlns:a16="http://schemas.microsoft.com/office/drawing/2014/main" val="503131898"/>
                    </a:ext>
                  </a:extLst>
                </a:gridCol>
                <a:gridCol w="6732639">
                  <a:extLst>
                    <a:ext uri="{9D8B030D-6E8A-4147-A177-3AD203B41FA5}">
                      <a16:colId xmlns:a16="http://schemas.microsoft.com/office/drawing/2014/main" val="2869224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שם הבדיקה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ערך מוחזר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תיאור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407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CountSetNext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פקודות </a:t>
                      </a:r>
                      <a:r>
                        <a:rPr lang="en-US" dirty="0" err="1"/>
                        <a:t>SetNext</a:t>
                      </a:r>
                      <a:r>
                        <a:rPr lang="he-IL" dirty="0"/>
                        <a:t> של המחלקה </a:t>
                      </a:r>
                      <a:r>
                        <a:rPr lang="en-US" dirty="0"/>
                        <a:t>Node&lt;T&gt;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719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CountGetNext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מספר פקודות </a:t>
                      </a:r>
                      <a:r>
                        <a:rPr lang="en-US" dirty="0" err="1"/>
                        <a:t>GetNext</a:t>
                      </a:r>
                      <a:r>
                        <a:rPr lang="he-IL" dirty="0"/>
                        <a:t> של המחלקה </a:t>
                      </a:r>
                      <a:r>
                        <a:rPr lang="en-US" dirty="0"/>
                        <a:t>Node&lt;T&gt;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91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HasNestedLoops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Bool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האם התלמיד השתמש בלולאות מכוננות מכל סוג (לצורך סיבוכיות).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1203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IsStatic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Bool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בדיקת חתימת הפעולה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270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IsPublic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Bool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בדיקת חתימת הפעולה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77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IsPrivate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Bool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בדיקת חתימת הפעולה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168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IsProtected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Boll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בדיקת חתימת הפעולה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761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IsInternal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Bool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בדיקת חתימת הפעולה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789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CheckParams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Bool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בדיקת חתימת הפעולה – השוואת הפרמטרים לחתימת פעולת המורה.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989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CheckReturnType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Bool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בדיקת חתימת הפעולה – השוואת הערך המחוזרת לחתימת פעולת המורה.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683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6096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B2994-C036-4D8B-4911-49C310603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103F3E-2D79-3924-AF63-D2F86742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83596"/>
            <a:ext cx="10515600" cy="1102288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he-IL" dirty="0"/>
              <a:t>העלאת בדיקה ל </a:t>
            </a:r>
            <a:r>
              <a:rPr lang="en-US" dirty="0"/>
              <a:t>PETEL</a:t>
            </a:r>
            <a:endParaRPr lang="he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D74DE2-F36E-06EC-F257-648DAB4BB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9488" y="3595910"/>
            <a:ext cx="5693024" cy="135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2570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CFDA0-7C62-AA3B-F038-F0B605232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848686-7E13-F5B8-031B-6016F9B6A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העלאת בדיקה למערכת </a:t>
            </a:r>
            <a:r>
              <a:rPr lang="en-US" dirty="0"/>
              <a:t>Moodle </a:t>
            </a:r>
            <a:r>
              <a:rPr lang="en-US" dirty="0" err="1"/>
              <a:t>PeTel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4E73151-FBE7-AF07-0A99-1093ADD23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/>
          <a:lstStyle/>
          <a:p>
            <a:r>
              <a:rPr lang="he-IL" dirty="0"/>
              <a:t>לאחר שהרצנו את הבדיקה בסביבת העבודה וניסינו תשובות שונות של התלמידים הגיע הזמן להעלות למערכת </a:t>
            </a:r>
            <a:r>
              <a:rPr lang="en-US" dirty="0"/>
              <a:t>PETEL</a:t>
            </a:r>
            <a:r>
              <a:rPr lang="he-IL" dirty="0"/>
              <a:t>.</a:t>
            </a:r>
          </a:p>
          <a:p>
            <a:r>
              <a:rPr lang="he-IL" dirty="0"/>
              <a:t>ניצור שאלת הרצת קוד </a:t>
            </a:r>
            <a:r>
              <a:rPr lang="en-US" dirty="0"/>
              <a:t>VPL</a:t>
            </a:r>
            <a:r>
              <a:rPr lang="he-IL" dirty="0"/>
              <a:t>.</a:t>
            </a:r>
          </a:p>
          <a:p>
            <a:endParaRPr lang="he-IL" dirty="0"/>
          </a:p>
        </p:txBody>
      </p:sp>
      <p:pic>
        <p:nvPicPr>
          <p:cNvPr id="7" name="תמונה 6" descr="תמונה שמכילה טקסט, צילום מסך, תוכנה, דף אינטרנ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4432664-C524-0399-9C0C-1F8040EDD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476" y="2710390"/>
            <a:ext cx="6371047" cy="396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881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98B0A-DA2A-9246-8219-EEECE1BDD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AD24C1E-7129-715B-1CF3-6A29232A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בניית השאלה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FF28804-1CDF-C62A-E383-AE827B623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865" y="1091382"/>
            <a:ext cx="5542935" cy="5453319"/>
          </a:xfrm>
        </p:spPr>
        <p:txBody>
          <a:bodyPr/>
          <a:lstStyle/>
          <a:p>
            <a:r>
              <a:rPr lang="he-IL" dirty="0"/>
              <a:t>לבנות שאלה כרגיל</a:t>
            </a:r>
          </a:p>
          <a:p>
            <a:r>
              <a:rPr lang="he-IL" dirty="0"/>
              <a:t>שם קובץ: מומלץ </a:t>
            </a:r>
            <a:r>
              <a:rPr lang="en-US" dirty="0" err="1"/>
              <a:t>StudentAnswer.cs</a:t>
            </a:r>
            <a:r>
              <a:rPr lang="he-IL" dirty="0"/>
              <a:t> אחרת יש לשנות את הקובץ ב </a:t>
            </a:r>
            <a:r>
              <a:rPr lang="en-US" dirty="0" err="1"/>
              <a:t>MainTester</a:t>
            </a:r>
            <a:r>
              <a:rPr lang="he-IL" dirty="0"/>
              <a:t>.</a:t>
            </a:r>
          </a:p>
          <a:p>
            <a:endParaRPr lang="he-IL" dirty="0"/>
          </a:p>
          <a:p>
            <a:r>
              <a:rPr lang="he-IL" dirty="0"/>
              <a:t>בתבנית התשובה מומלץ להעתיק את תשובת התלמיד מסביבת העבודה  ולמחוק את הפרטים אותם יתבקש התלמיד לכתוב.</a:t>
            </a:r>
          </a:p>
          <a:p>
            <a:pPr lvl="1"/>
            <a:r>
              <a:rPr lang="he-IL" dirty="0"/>
              <a:t>חשוב – לא לשכוח </a:t>
            </a:r>
            <a:r>
              <a:rPr lang="en-US" dirty="0"/>
              <a:t>using</a:t>
            </a:r>
            <a:r>
              <a:rPr lang="he-IL" dirty="0"/>
              <a:t>. </a:t>
            </a:r>
          </a:p>
          <a:p>
            <a:pPr lvl="1"/>
            <a:r>
              <a:rPr lang="he-IL" dirty="0"/>
              <a:t>מומלץ - לא להוסיף </a:t>
            </a:r>
            <a:r>
              <a:rPr lang="en-US" dirty="0" err="1"/>
              <a:t>nameSpace</a:t>
            </a:r>
            <a:r>
              <a:rPr lang="he-IL" dirty="0"/>
              <a:t> (אחרת יש לעדכן בטסטר)</a:t>
            </a:r>
          </a:p>
        </p:txBody>
      </p:sp>
      <p:pic>
        <p:nvPicPr>
          <p:cNvPr id="5" name="תמונה 4" descr="תמונה שמכילה טקסט, צילום מסך, גופן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EC29C07-73A1-BB47-7445-AD9ED3D3C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096" y="2856546"/>
            <a:ext cx="3694471" cy="423677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904A181-ECBC-4DF0-2371-E3391956F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28" y="1091382"/>
            <a:ext cx="5176539" cy="545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690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BF863-20BD-9432-9D1E-D8C3AE817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485A1C-0204-B0CB-D699-F923430EC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העלאת קבצי הבדיקה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0F9322B-328C-A5CF-B5B6-E20522158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/>
          <a:lstStyle/>
          <a:p>
            <a:r>
              <a:rPr lang="he-IL" dirty="0"/>
              <a:t>בחלון קבצי הרצה ובדיקת קוד יש ללחוץ על </a:t>
            </a:r>
            <a:r>
              <a:rPr lang="en-US" dirty="0"/>
              <a:t>+</a:t>
            </a:r>
            <a:r>
              <a:rPr lang="he-IL" dirty="0"/>
              <a:t> 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ולאחר מכן, ללחוץ על העלאה (חץ למעלה).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לאחר הלחיצה יפתח חלון במחשב שלכם.</a:t>
            </a:r>
          </a:p>
        </p:txBody>
      </p:sp>
      <p:pic>
        <p:nvPicPr>
          <p:cNvPr id="5" name="תמונה 4" descr="תמונה שמכילה טקסט, גופן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ED5302C-6829-7862-85F8-0B3963CD2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259" y="1861903"/>
            <a:ext cx="5963482" cy="114316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FA759552-92E2-9FD2-42F7-29D126306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836" y="4095644"/>
            <a:ext cx="8440328" cy="990738"/>
          </a:xfrm>
          <a:prstGeom prst="rect">
            <a:avLst/>
          </a:prstGeom>
        </p:spPr>
      </p:pic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E726343A-5591-0E55-E4F8-5D8CE72C7B4D}"/>
              </a:ext>
            </a:extLst>
          </p:cNvPr>
          <p:cNvSpPr/>
          <p:nvPr/>
        </p:nvSpPr>
        <p:spPr>
          <a:xfrm>
            <a:off x="3195484" y="1948598"/>
            <a:ext cx="442451" cy="4227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1F982B87-F3C3-E75D-47A0-916D2EEB7D57}"/>
              </a:ext>
            </a:extLst>
          </p:cNvPr>
          <p:cNvSpPr/>
          <p:nvPr/>
        </p:nvSpPr>
        <p:spPr>
          <a:xfrm>
            <a:off x="4650658" y="4168226"/>
            <a:ext cx="442451" cy="4227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090554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68C2F-AB92-AC3E-AEEE-016103C87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6E0B1DD-A375-8A43-627E-B35DFA1EC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העלאת קבצי הבדיקה הכללים</a:t>
            </a:r>
          </a:p>
        </p:txBody>
      </p:sp>
      <p:sp>
        <p:nvSpPr>
          <p:cNvPr id="7" name="מציין מיקום תוכן 6">
            <a:extLst>
              <a:ext uri="{FF2B5EF4-FFF2-40B4-BE49-F238E27FC236}">
                <a16:creationId xmlns:a16="http://schemas.microsoft.com/office/drawing/2014/main" id="{691C9419-2CA4-0685-0B2D-0B540291C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839"/>
            <a:ext cx="10515600" cy="4702124"/>
          </a:xfrm>
        </p:spPr>
        <p:txBody>
          <a:bodyPr/>
          <a:lstStyle/>
          <a:p>
            <a:r>
              <a:rPr lang="he-IL" dirty="0"/>
              <a:t>יש לאתר את </a:t>
            </a:r>
            <a:r>
              <a:rPr lang="he-IL" dirty="0" err="1"/>
              <a:t>הספריה</a:t>
            </a:r>
            <a:r>
              <a:rPr lang="he-IL" dirty="0"/>
              <a:t> </a:t>
            </a:r>
            <a:r>
              <a:rPr lang="en-US" dirty="0"/>
              <a:t>Upload</a:t>
            </a:r>
            <a:r>
              <a:rPr lang="he-IL" dirty="0"/>
              <a:t> בתוך הפרויקט שלכם, לסמן את שלושת הקבצים בספריה, ולהעלות אותם (עזרה באיתור </a:t>
            </a:r>
            <a:r>
              <a:rPr lang="he-IL" dirty="0" err="1"/>
              <a:t>הספריה</a:t>
            </a:r>
            <a:r>
              <a:rPr lang="he-IL" dirty="0"/>
              <a:t> בשקופית הבאה).</a:t>
            </a:r>
          </a:p>
          <a:p>
            <a:r>
              <a:rPr lang="he-IL" dirty="0"/>
              <a:t>קבצים אילו קבועים בכל המשימות.</a:t>
            </a:r>
          </a:p>
        </p:txBody>
      </p:sp>
      <p:grpSp>
        <p:nvGrpSpPr>
          <p:cNvPr id="11" name="קבוצה 10">
            <a:extLst>
              <a:ext uri="{FF2B5EF4-FFF2-40B4-BE49-F238E27FC236}">
                <a16:creationId xmlns:a16="http://schemas.microsoft.com/office/drawing/2014/main" id="{DC0CCDB3-ADA8-6F43-147D-75F75CBB8C87}"/>
              </a:ext>
            </a:extLst>
          </p:cNvPr>
          <p:cNvGrpSpPr/>
          <p:nvPr/>
        </p:nvGrpSpPr>
        <p:grpSpPr>
          <a:xfrm>
            <a:off x="2571258" y="2871327"/>
            <a:ext cx="7049484" cy="3305636"/>
            <a:chOff x="2571258" y="2871327"/>
            <a:chExt cx="7049484" cy="3305636"/>
          </a:xfrm>
        </p:grpSpPr>
        <p:pic>
          <p:nvPicPr>
            <p:cNvPr id="9" name="תמונה 8" descr="תמונה שמכילה טקסט, צילום מסך, תוכנה, סמל מחשב&#10;&#10;תוכן בינה מלאכותית גנרטיבית עשוי להיות שגוי.">
              <a:extLst>
                <a:ext uri="{FF2B5EF4-FFF2-40B4-BE49-F238E27FC236}">
                  <a16:creationId xmlns:a16="http://schemas.microsoft.com/office/drawing/2014/main" id="{6F5C90B1-740E-A5A1-525B-4844F06D4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71258" y="2871327"/>
              <a:ext cx="7049484" cy="3305636"/>
            </a:xfrm>
            <a:prstGeom prst="rect">
              <a:avLst/>
            </a:prstGeom>
          </p:spPr>
        </p:pic>
        <p:sp>
          <p:nvSpPr>
            <p:cNvPr id="10" name="מלבן: פינות מעוגלות 9">
              <a:extLst>
                <a:ext uri="{FF2B5EF4-FFF2-40B4-BE49-F238E27FC236}">
                  <a16:creationId xmlns:a16="http://schemas.microsoft.com/office/drawing/2014/main" id="{511D2B39-675D-3988-E036-2A959734E972}"/>
                </a:ext>
              </a:extLst>
            </p:cNvPr>
            <p:cNvSpPr/>
            <p:nvPr/>
          </p:nvSpPr>
          <p:spPr>
            <a:xfrm>
              <a:off x="7521679" y="5702709"/>
              <a:ext cx="973394" cy="35396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32710435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53B8BFC-9C54-1BD9-DF9D-51C1B29F1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591"/>
          </a:xfrm>
        </p:spPr>
        <p:txBody>
          <a:bodyPr/>
          <a:lstStyle/>
          <a:p>
            <a:pPr algn="ctr"/>
            <a:r>
              <a:rPr lang="he-IL" dirty="0"/>
              <a:t>איתור ספריית העבודה במחשב שלנו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1AF506F-3C21-E5BE-FE65-46FFD5EC1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3302" y="1248697"/>
            <a:ext cx="8030497" cy="4928266"/>
          </a:xfrm>
        </p:spPr>
        <p:txBody>
          <a:bodyPr>
            <a:normAutofit lnSpcReduction="10000"/>
          </a:bodyPr>
          <a:lstStyle/>
          <a:p>
            <a:r>
              <a:rPr lang="he-IL" dirty="0"/>
              <a:t>על מנת לאתר את ספריית העבודה במחשב שלנו נלחץ קליק ימני על ה </a:t>
            </a:r>
            <a:r>
              <a:rPr lang="en-US" dirty="0"/>
              <a:t>solution</a:t>
            </a:r>
            <a:r>
              <a:rPr lang="he-IL" dirty="0"/>
              <a:t> שלנו.</a:t>
            </a:r>
          </a:p>
          <a:p>
            <a:r>
              <a:rPr lang="he-IL" dirty="0"/>
              <a:t>בחירה ב </a:t>
            </a:r>
            <a:r>
              <a:rPr lang="en-US" dirty="0"/>
              <a:t>Open in File Explorer</a:t>
            </a:r>
            <a:r>
              <a:rPr lang="he-IL" dirty="0"/>
              <a:t>.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ניתן להעתיק את הנתיב של הפרויקט </a:t>
            </a:r>
            <a:r>
              <a:rPr lang="he-IL" dirty="0" err="1"/>
              <a:t>והתמש</a:t>
            </a:r>
            <a:r>
              <a:rPr lang="he-IL" dirty="0"/>
              <a:t> בו בחלון העלאה של ה </a:t>
            </a:r>
            <a:r>
              <a:rPr lang="en-US" dirty="0"/>
              <a:t>PETEL</a:t>
            </a:r>
            <a:r>
              <a:rPr lang="he-IL" dirty="0"/>
              <a:t>.</a:t>
            </a:r>
          </a:p>
          <a:p>
            <a:endParaRPr lang="he-IL" dirty="0"/>
          </a:p>
          <a:p>
            <a:endParaRPr lang="he-IL" dirty="0"/>
          </a:p>
        </p:txBody>
      </p:sp>
      <p:pic>
        <p:nvPicPr>
          <p:cNvPr id="5" name="תמונה 4" descr="תמונה שמכילה טקסט, צילום מסך, תוכנה, תכונות מולטימדי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A1F8BB9A-D938-CDA1-78D0-999F93137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89" y="1099907"/>
            <a:ext cx="2634698" cy="5225845"/>
          </a:xfrm>
          <a:prstGeom prst="rect">
            <a:avLst/>
          </a:prstGeom>
        </p:spPr>
      </p:pic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A6382636-57D3-1E98-2954-5914C80848A9}"/>
              </a:ext>
            </a:extLst>
          </p:cNvPr>
          <p:cNvSpPr/>
          <p:nvPr/>
        </p:nvSpPr>
        <p:spPr>
          <a:xfrm>
            <a:off x="611289" y="5358581"/>
            <a:ext cx="1325666" cy="3244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8" name="תמונה 7" descr="תמונה שמכילה טקסט, תוכנה, סמל מחשב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1367323-6E7A-9223-255E-FCB1D7AB1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967" y="2687067"/>
            <a:ext cx="5854724" cy="2440679"/>
          </a:xfrm>
          <a:prstGeom prst="rect">
            <a:avLst/>
          </a:prstGeom>
        </p:spPr>
      </p:pic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E26AEAF2-B6A2-3A3C-A958-F56E37332F82}"/>
              </a:ext>
            </a:extLst>
          </p:cNvPr>
          <p:cNvSpPr/>
          <p:nvPr/>
        </p:nvSpPr>
        <p:spPr>
          <a:xfrm>
            <a:off x="4765993" y="2998838"/>
            <a:ext cx="3008671" cy="35150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11" name="תמונה 10" descr="תמונה שמכילה טקסט, צילום מסך, תוכנה, סמל מחשב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54561ED-A6E4-3727-0648-B44D25E5F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916" y="3605981"/>
            <a:ext cx="2838537" cy="125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5052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DCB35-ABCF-9340-2DFC-D0429BE56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6C396C5-A5F3-53B0-F156-46132C24E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pPr algn="ctr"/>
            <a:r>
              <a:rPr lang="he-IL" dirty="0"/>
              <a:t>העלאת הקבצים של המשימה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EF735E8-4D28-C407-A48A-44F8EA03B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/>
          <a:lstStyle/>
          <a:p>
            <a:r>
              <a:rPr lang="he-IL" dirty="0"/>
              <a:t>בשלב הבא נעלה את הקבצים של המשימה הספציפית.</a:t>
            </a:r>
          </a:p>
          <a:p>
            <a:r>
              <a:rPr lang="he-IL" dirty="0"/>
              <a:t>ללחוץ שוב על החץ למעלה, לאתר את </a:t>
            </a:r>
            <a:r>
              <a:rPr lang="he-IL" dirty="0" err="1"/>
              <a:t>הספריה</a:t>
            </a:r>
            <a:r>
              <a:rPr lang="he-IL" dirty="0"/>
              <a:t> של הפרויקט, לסמן רק את שני הקבצים:</a:t>
            </a:r>
          </a:p>
          <a:p>
            <a:pPr lvl="1"/>
            <a:r>
              <a:rPr lang="en-US" dirty="0" err="1"/>
              <a:t>MainTester.cs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TeacherAnswer.cs</a:t>
            </a:r>
            <a:endParaRPr lang="he-IL" dirty="0"/>
          </a:p>
          <a:p>
            <a:r>
              <a:rPr lang="he-IL" dirty="0"/>
              <a:t>לעלות את הקבצים ולשמור.</a:t>
            </a:r>
          </a:p>
        </p:txBody>
      </p:sp>
      <p:pic>
        <p:nvPicPr>
          <p:cNvPr id="5" name="תמונה 4" descr="תמונה שמכילה טקסט, צילום מסך, תוכנה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D0AD42C-BC63-15A3-DA3D-EF72DB269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139"/>
          <a:stretch>
            <a:fillRect/>
          </a:stretch>
        </p:blipFill>
        <p:spPr>
          <a:xfrm>
            <a:off x="1402326" y="4201691"/>
            <a:ext cx="9387348" cy="1763172"/>
          </a:xfrm>
          <a:prstGeom prst="rect">
            <a:avLst/>
          </a:prstGeom>
        </p:spPr>
      </p:pic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B7E85705-0B58-94D6-2D39-8C7C8179A125}"/>
              </a:ext>
            </a:extLst>
          </p:cNvPr>
          <p:cNvSpPr/>
          <p:nvPr/>
        </p:nvSpPr>
        <p:spPr>
          <a:xfrm>
            <a:off x="1681316" y="4153700"/>
            <a:ext cx="442452" cy="46531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699D0132-526E-4E0A-241C-0904D0FD7578}"/>
              </a:ext>
            </a:extLst>
          </p:cNvPr>
          <p:cNvSpPr txBox="1"/>
          <p:nvPr/>
        </p:nvSpPr>
        <p:spPr>
          <a:xfrm>
            <a:off x="1489587" y="3429000"/>
            <a:ext cx="82591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rgbClr val="FF0000"/>
                </a:solidFill>
              </a:rPr>
              <a:t>שמירה</a:t>
            </a:r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6DCFD0F4-71AB-7AFE-B984-265C36D61920}"/>
              </a:ext>
            </a:extLst>
          </p:cNvPr>
          <p:cNvCxnSpPr>
            <a:stCxn id="7" idx="2"/>
            <a:endCxn id="6" idx="0"/>
          </p:cNvCxnSpPr>
          <p:nvPr/>
        </p:nvCxnSpPr>
        <p:spPr>
          <a:xfrm>
            <a:off x="1902542" y="3798332"/>
            <a:ext cx="0" cy="3553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14744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D9B35-3235-5E49-2866-94711F915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2CDD41C-9811-02E1-E8F4-01BB1F74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591"/>
          </a:xfrm>
        </p:spPr>
        <p:txBody>
          <a:bodyPr/>
          <a:lstStyle/>
          <a:p>
            <a:pPr algn="ctr"/>
            <a:r>
              <a:rPr lang="he-IL" dirty="0"/>
              <a:t>בדיקה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B0E123A-3341-8EE9-388D-E727DA6E8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8697"/>
            <a:ext cx="10515600" cy="4928266"/>
          </a:xfrm>
        </p:spPr>
        <p:txBody>
          <a:bodyPr/>
          <a:lstStyle/>
          <a:p>
            <a:r>
              <a:rPr lang="he-IL" dirty="0"/>
              <a:t>בחלק התחתון של הטופס נלחץ על שמירה והמשך עריכה ולאחר מכן על תצוגה מקדימה.</a:t>
            </a:r>
          </a:p>
          <a:p>
            <a:endParaRPr lang="he-IL" dirty="0"/>
          </a:p>
          <a:p>
            <a:r>
              <a:rPr lang="he-IL" dirty="0"/>
              <a:t>נעתיק את תשובת התלמיד מסביבת העבודה ל </a:t>
            </a:r>
            <a:r>
              <a:rPr lang="en-US" dirty="0"/>
              <a:t>PETEL</a:t>
            </a:r>
            <a:r>
              <a:rPr lang="he-IL" dirty="0"/>
              <a:t> ונלחץ "בדיקת קוד מקדימה".</a:t>
            </a:r>
          </a:p>
          <a:p>
            <a:r>
              <a:rPr lang="he-IL" dirty="0"/>
              <a:t>נוודא שקיבלנו תוצאה מצופה.</a:t>
            </a:r>
          </a:p>
        </p:txBody>
      </p:sp>
      <p:pic>
        <p:nvPicPr>
          <p:cNvPr id="5" name="תמונה 4" descr="תמונה שמכילה טקסט, גופן, צילום מסך, לוג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842CA4F6-3FF6-4107-DC47-153C283E0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636" y="1687118"/>
            <a:ext cx="3848637" cy="514422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תוכנה, דף אינטרנ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1B12F85A-B858-A595-6545-805B9F9CC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193" y="3282502"/>
            <a:ext cx="3820058" cy="3210373"/>
          </a:xfrm>
          <a:prstGeom prst="rect">
            <a:avLst/>
          </a:prstGeom>
        </p:spPr>
      </p:pic>
      <p:pic>
        <p:nvPicPr>
          <p:cNvPr id="9" name="תמונה 8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49C73E4-89B6-C463-EF45-9F05D314E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197" y="4080387"/>
            <a:ext cx="5875960" cy="241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1892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6F7FC-20AA-AC29-E95E-E66D2C0EA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3">
            <a:extLst>
              <a:ext uri="{FF2B5EF4-FFF2-40B4-BE49-F238E27FC236}">
                <a16:creationId xmlns:a16="http://schemas.microsoft.com/office/drawing/2014/main" id="{E6DE98AF-7040-FCAA-6C5C-3B16C8A3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4504"/>
            <a:ext cx="10515600" cy="1092457"/>
          </a:xfr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he-IL" sz="7200" b="1" dirty="0"/>
              <a:t>עבודה נעימה</a:t>
            </a:r>
          </a:p>
        </p:txBody>
      </p:sp>
      <p:pic>
        <p:nvPicPr>
          <p:cNvPr id="6" name="Picture 4" descr="מכון ויצמן למדע">
            <a:extLst>
              <a:ext uri="{FF2B5EF4-FFF2-40B4-BE49-F238E27FC236}">
                <a16:creationId xmlns:a16="http://schemas.microsoft.com/office/drawing/2014/main" id="{686D15A0-CF6E-25AC-6937-B52A245B0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26" y="487926"/>
            <a:ext cx="4064816" cy="91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C953CD76-FC44-B311-3C15-0CD8E4349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615" y="4141198"/>
            <a:ext cx="4484770" cy="2228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A18F7B72-44BF-426C-8C3D-D60002355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50942" y="387842"/>
            <a:ext cx="3612532" cy="858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1769272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2700</TotalTime>
  <Words>1903</Words>
  <Application>Microsoft Office PowerPoint</Application>
  <PresentationFormat>מסך רחב</PresentationFormat>
  <Paragraphs>339</Paragraphs>
  <Slides>47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47</vt:i4>
      </vt:variant>
    </vt:vector>
  </HeadingPairs>
  <TitlesOfParts>
    <vt:vector size="52" baseType="lpstr">
      <vt:lpstr>Aptos</vt:lpstr>
      <vt:lpstr>Aptos Display</vt:lpstr>
      <vt:lpstr>Arial</vt:lpstr>
      <vt:lpstr>Calibri</vt:lpstr>
      <vt:lpstr>ערכת נושא Office</vt:lpstr>
      <vt:lpstr>PeTel Tester  C#</vt:lpstr>
      <vt:lpstr>כללי</vt:lpstr>
      <vt:lpstr>התקנות</vt:lpstr>
      <vt:lpstr>הכנה של ויזואל סטודיו</vt:lpstr>
      <vt:lpstr>התקנה של הממשק</vt:lpstr>
      <vt:lpstr>Cloning</vt:lpstr>
      <vt:lpstr>הורדת הפרויקט למחשב (חלופי)</vt:lpstr>
      <vt:lpstr>המשך הורדת הפרויקט</vt:lpstr>
      <vt:lpstr>הכנת סביבת העבודה למשימה חדשה</vt:lpstr>
      <vt:lpstr>יצירת פרויקט חדש</vt:lpstr>
      <vt:lpstr>יצירת פרויקט חדש - המשך</vt:lpstr>
      <vt:lpstr>התקנת ספריות נחוצות</vt:lpstr>
      <vt:lpstr>העתקת קבצים לפרויקט החדש</vt:lpstr>
      <vt:lpstr>קביעת פרויקט ונקודת כניסה</vt:lpstr>
      <vt:lpstr>הפרויקט מוכן לפיתוח</vt:lpstr>
      <vt:lpstr>בניית Tester</vt:lpstr>
      <vt:lpstr>כללי</vt:lpstr>
      <vt:lpstr>בדיקת התשובה של המורה Unit4Helper</vt:lpstr>
      <vt:lpstr>פתרון המורה והתלמיד</vt:lpstr>
      <vt:lpstr>הרצת הקוד לבדיקה – Unit4Helper</vt:lpstr>
      <vt:lpstr>פעולות ב Unit4Helper</vt:lpstr>
      <vt:lpstr>פעולות עבור עצים</vt:lpstr>
      <vt:lpstr>בניית Case Test</vt:lpstr>
      <vt:lpstr>MainTester</vt:lpstr>
      <vt:lpstr>Main</vt:lpstr>
      <vt:lpstr>CaseTester</vt:lpstr>
      <vt:lpstr>השלבים לבניית בדיקה</vt:lpstr>
      <vt:lpstr>הפרמטרים של TestMethod</vt:lpstr>
      <vt:lpstr>דוגמאות לבדיקות</vt:lpstr>
      <vt:lpstr>דוגמאות לבדיקה</vt:lpstr>
      <vt:lpstr>הוספת הודעת שגיאה מותאמת אישית</vt:lpstr>
      <vt:lpstr>הוספת הודעת שגיאה מותאמת אישית</vt:lpstr>
      <vt:lpstr>בניית Code Test</vt:lpstr>
      <vt:lpstr>בדיקת תחביר הקוד</vt:lpstr>
      <vt:lpstr>בניית בדיקת תחביר</vt:lpstr>
      <vt:lpstr>פרמטרים של TestCodeStructure</vt:lpstr>
      <vt:lpstr>סוגי הבדיקות – המחלקה CodeStructureCheck</vt:lpstr>
      <vt:lpstr>סוגי הבדיקות – המשך</vt:lpstr>
      <vt:lpstr>העלאת בדיקה ל PETEL</vt:lpstr>
      <vt:lpstr>העלאת בדיקה למערכת Moodle PeTel</vt:lpstr>
      <vt:lpstr>בניית השאלה</vt:lpstr>
      <vt:lpstr>העלאת קבצי הבדיקה</vt:lpstr>
      <vt:lpstr>העלאת קבצי הבדיקה הכללים</vt:lpstr>
      <vt:lpstr>איתור ספריית העבודה במחשב שלנו</vt:lpstr>
      <vt:lpstr>העלאת הקבצים של המשימה</vt:lpstr>
      <vt:lpstr>בדיקה</vt:lpstr>
      <vt:lpstr>עבודה נעימה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גלעד מרקמן</dc:creator>
  <cp:lastModifiedBy>גלעד מרקמן</cp:lastModifiedBy>
  <cp:revision>51</cp:revision>
  <dcterms:created xsi:type="dcterms:W3CDTF">2025-12-11T13:46:23Z</dcterms:created>
  <dcterms:modified xsi:type="dcterms:W3CDTF">2025-12-13T10:46:52Z</dcterms:modified>
</cp:coreProperties>
</file>